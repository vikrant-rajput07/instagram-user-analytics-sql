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69" r:id="rId14"/>
    <p:sldId id="267" r:id="rId15"/>
    <p:sldId id="268" r:id="rId16"/>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Corbel" panose="020B0503020204020204" pitchFamily="34" charset="0"/>
      <p:regular r:id="rId22"/>
      <p:bold r:id="rId23"/>
      <p:italic r:id="rId24"/>
      <p:boldItalic r:id="rId25"/>
    </p:embeddedFont>
    <p:embeddedFont>
      <p:font typeface="MV Boli" panose="02000500030200090000" pitchFamily="2" charset="0"/>
      <p:regular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061" autoAdjust="0"/>
  </p:normalViewPr>
  <p:slideViewPr>
    <p:cSldViewPr>
      <p:cViewPr varScale="1">
        <p:scale>
          <a:sx n="53" d="100"/>
          <a:sy n="53" d="100"/>
        </p:scale>
        <p:origin x="80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3" d="100"/>
          <a:sy n="53" d="100"/>
        </p:scale>
        <p:origin x="292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Avg. Likes vs Tags</a:t>
            </a:r>
          </a:p>
        </c:rich>
      </c:tx>
      <c:overlay val="0"/>
      <c:spPr>
        <a:noFill/>
        <a:ln>
          <a:noFill/>
        </a:ln>
        <a:effectLst/>
      </c:spPr>
      <c:txPr>
        <a:bodyPr rot="0" spcFirstLastPara="1" vertOverflow="ellipsis" vert="horz" wrap="square" anchor="ctr" anchorCtr="1"/>
        <a:lstStyle/>
        <a:p>
          <a:pPr>
            <a:defRPr sz="144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0.15065420326791698"/>
          <c:y val="7.7797890925299304E-2"/>
          <c:w val="0.83231422021902934"/>
          <c:h val="0.80211323845173166"/>
        </c:manualLayout>
      </c:layout>
      <c:barChart>
        <c:barDir val="col"/>
        <c:grouping val="clustered"/>
        <c:varyColors val="0"/>
        <c:ser>
          <c:idx val="0"/>
          <c:order val="0"/>
          <c:tx>
            <c:strRef>
              <c:f>Sheet3!$AI$1</c:f>
              <c:strCache>
                <c:ptCount val="1"/>
                <c:pt idx="0">
                  <c:v>avg_likes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invertIfNegative val="0"/>
          <c:cat>
            <c:strRef>
              <c:f>Sheet3!$AH$2:$AH$6</c:f>
              <c:strCache>
                <c:ptCount val="5"/>
                <c:pt idx="0">
                  <c:v>dreamy</c:v>
                </c:pt>
                <c:pt idx="1">
                  <c:v>beauty</c:v>
                </c:pt>
                <c:pt idx="2">
                  <c:v>stunning</c:v>
                </c:pt>
                <c:pt idx="3">
                  <c:v>delicious</c:v>
                </c:pt>
                <c:pt idx="4">
                  <c:v>foodie</c:v>
                </c:pt>
              </c:strCache>
            </c:strRef>
          </c:cat>
          <c:val>
            <c:numRef>
              <c:f>Sheet3!$AI$2:$AI$6</c:f>
              <c:numCache>
                <c:formatCode>General</c:formatCode>
                <c:ptCount val="5"/>
                <c:pt idx="0">
                  <c:v>35.75</c:v>
                </c:pt>
                <c:pt idx="1">
                  <c:v>34.950000000000003</c:v>
                </c:pt>
                <c:pt idx="2">
                  <c:v>34.94</c:v>
                </c:pt>
                <c:pt idx="3">
                  <c:v>34.93</c:v>
                </c:pt>
                <c:pt idx="4">
                  <c:v>34.729999999999997</c:v>
                </c:pt>
              </c:numCache>
            </c:numRef>
          </c:val>
          <c:extLst>
            <c:ext xmlns:c16="http://schemas.microsoft.com/office/drawing/2014/chart" uri="{C3380CC4-5D6E-409C-BE32-E72D297353CC}">
              <c16:uniqueId val="{00000000-B5A3-44D1-905A-EE526914C5CB}"/>
            </c:ext>
          </c:extLst>
        </c:ser>
        <c:dLbls>
          <c:showLegendKey val="0"/>
          <c:showVal val="0"/>
          <c:showCatName val="0"/>
          <c:showSerName val="0"/>
          <c:showPercent val="0"/>
          <c:showBubbleSize val="0"/>
        </c:dLbls>
        <c:gapWidth val="100"/>
        <c:overlap val="-24"/>
        <c:axId val="576356431"/>
        <c:axId val="576364591"/>
      </c:barChart>
      <c:catAx>
        <c:axId val="576356431"/>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Tags</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576364591"/>
        <c:crosses val="autoZero"/>
        <c:auto val="1"/>
        <c:lblAlgn val="ctr"/>
        <c:lblOffset val="100"/>
        <c:noMultiLvlLbl val="0"/>
      </c:catAx>
      <c:valAx>
        <c:axId val="576364591"/>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Avg. Likes</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57635643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0.11196422778613348"/>
          <c:y val="0.11674846194945245"/>
          <c:w val="0.84811687162700167"/>
          <c:h val="0.58727570401578932"/>
        </c:manualLayout>
      </c:layout>
      <c:barChart>
        <c:barDir val="col"/>
        <c:grouping val="clustered"/>
        <c:varyColors val="0"/>
        <c:ser>
          <c:idx val="0"/>
          <c:order val="0"/>
          <c:tx>
            <c:strRef>
              <c:f>Sheet4!$H$1</c:f>
              <c:strCache>
                <c:ptCount val="1"/>
                <c:pt idx="0">
                  <c:v>total_engagement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Sheet4!$B$2:$B$11</c:f>
              <c:strCache>
                <c:ptCount val="10"/>
                <c:pt idx="0">
                  <c:v>Keenan.Schamberger60</c:v>
                </c:pt>
                <c:pt idx="1">
                  <c:v>Rick29</c:v>
                </c:pt>
                <c:pt idx="2">
                  <c:v>Karley_Bosco</c:v>
                </c:pt>
                <c:pt idx="3">
                  <c:v>Josianne.Friesen</c:v>
                </c:pt>
                <c:pt idx="4">
                  <c:v>Elenor88</c:v>
                </c:pt>
                <c:pt idx="5">
                  <c:v>Emilio_Bernier52</c:v>
                </c:pt>
                <c:pt idx="6">
                  <c:v>Billy52</c:v>
                </c:pt>
                <c:pt idx="7">
                  <c:v>Norbert_Carroll35</c:v>
                </c:pt>
                <c:pt idx="8">
                  <c:v>Andre_Purdy85</c:v>
                </c:pt>
                <c:pt idx="9">
                  <c:v>Lennie_Hartmann40</c:v>
                </c:pt>
              </c:strCache>
            </c:strRef>
          </c:cat>
          <c:val>
            <c:numRef>
              <c:f>Sheet4!$H$2:$H$11</c:f>
              <c:numCache>
                <c:formatCode>General</c:formatCode>
                <c:ptCount val="10"/>
                <c:pt idx="0">
                  <c:v>173</c:v>
                </c:pt>
                <c:pt idx="1">
                  <c:v>166</c:v>
                </c:pt>
                <c:pt idx="2">
                  <c:v>166</c:v>
                </c:pt>
                <c:pt idx="3">
                  <c:v>163</c:v>
                </c:pt>
                <c:pt idx="4">
                  <c:v>163</c:v>
                </c:pt>
                <c:pt idx="5">
                  <c:v>162</c:v>
                </c:pt>
                <c:pt idx="6">
                  <c:v>161</c:v>
                </c:pt>
                <c:pt idx="7">
                  <c:v>161</c:v>
                </c:pt>
                <c:pt idx="8">
                  <c:v>160</c:v>
                </c:pt>
                <c:pt idx="9">
                  <c:v>159</c:v>
                </c:pt>
              </c:numCache>
            </c:numRef>
          </c:val>
          <c:extLst>
            <c:ext xmlns:c16="http://schemas.microsoft.com/office/drawing/2014/chart" uri="{C3380CC4-5D6E-409C-BE32-E72D297353CC}">
              <c16:uniqueId val="{00000000-5A8E-4CE6-88F4-E23798B45BA5}"/>
            </c:ext>
          </c:extLst>
        </c:ser>
        <c:dLbls>
          <c:dLblPos val="outEnd"/>
          <c:showLegendKey val="0"/>
          <c:showVal val="1"/>
          <c:showCatName val="0"/>
          <c:showSerName val="0"/>
          <c:showPercent val="0"/>
          <c:showBubbleSize val="0"/>
        </c:dLbls>
        <c:gapWidth val="100"/>
        <c:overlap val="-24"/>
        <c:axId val="576393871"/>
        <c:axId val="576386191"/>
      </c:barChart>
      <c:catAx>
        <c:axId val="576393871"/>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sz="1200">
                    <a:latin typeface="Calibri" panose="020F0502020204030204" pitchFamily="34" charset="0"/>
                    <a:ea typeface="Calibri" panose="020F0502020204030204" pitchFamily="34" charset="0"/>
                    <a:cs typeface="Calibri" panose="020F0502020204030204" pitchFamily="34" charset="0"/>
                  </a:rPr>
                  <a:t>Username</a:t>
                </a:r>
              </a:p>
            </c:rich>
          </c:tx>
          <c:layout>
            <c:manualLayout>
              <c:xMode val="edge"/>
              <c:yMode val="edge"/>
              <c:x val="0.43103258967629049"/>
              <c:y val="0.9203470399533392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576386191"/>
        <c:crosses val="autoZero"/>
        <c:auto val="1"/>
        <c:lblAlgn val="ctr"/>
        <c:lblOffset val="100"/>
        <c:noMultiLvlLbl val="0"/>
      </c:catAx>
      <c:valAx>
        <c:axId val="5763861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sz="1200">
                    <a:latin typeface="Calibri" panose="020F0502020204030204" pitchFamily="34" charset="0"/>
                    <a:ea typeface="Calibri" panose="020F0502020204030204" pitchFamily="34" charset="0"/>
                    <a:cs typeface="Calibri" panose="020F0502020204030204" pitchFamily="34" charset="0"/>
                  </a:rPr>
                  <a:t>count</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57639387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4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latin typeface="Calibri" panose="020F0502020204030204" pitchFamily="34" charset="0"/>
                <a:ea typeface="Calibri" panose="020F0502020204030204" pitchFamily="34" charset="0"/>
                <a:cs typeface="Calibri" panose="020F0502020204030204" pitchFamily="34" charset="0"/>
              </a:rPr>
              <a:t>User Engagement Metrics by Username</a:t>
            </a:r>
          </a:p>
        </c:rich>
      </c:tx>
      <c:overlay val="0"/>
      <c:spPr>
        <a:noFill/>
        <a:ln>
          <a:noFill/>
        </a:ln>
        <a:effectLst/>
      </c:spPr>
      <c:txPr>
        <a:bodyPr rot="0" spcFirstLastPara="1" vertOverflow="ellipsis" vert="horz" wrap="square" anchor="ctr" anchorCtr="1"/>
        <a:lstStyle/>
        <a:p>
          <a:pPr>
            <a:defRPr sz="144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barChart>
        <c:barDir val="col"/>
        <c:grouping val="clustered"/>
        <c:varyColors val="0"/>
        <c:ser>
          <c:idx val="0"/>
          <c:order val="0"/>
          <c:tx>
            <c:strRef>
              <c:f>Sheet1!$V$18</c:f>
              <c:strCache>
                <c:ptCount val="1"/>
                <c:pt idx="0">
                  <c:v>total_likes</c:v>
                </c:pt>
              </c:strCache>
            </c:strRef>
          </c:tx>
          <c:spPr>
            <a:gradFill rotWithShape="1">
              <a:gsLst>
                <a:gs pos="0">
                  <a:schemeClr val="accent1">
                    <a:tint val="65000"/>
                    <a:tint val="96000"/>
                    <a:lumMod val="102000"/>
                  </a:schemeClr>
                </a:gs>
                <a:gs pos="100000">
                  <a:schemeClr val="accent1">
                    <a:tint val="65000"/>
                    <a:shade val="88000"/>
                    <a:lumMod val="94000"/>
                  </a:schemeClr>
                </a:gs>
              </a:gsLst>
              <a:path path="circle">
                <a:fillToRect l="50000" t="100000" r="100000" b="50000"/>
              </a:path>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invertIfNegative val="0"/>
          <c:cat>
            <c:multiLvlStrRef>
              <c:f>Sheet1!$T$19:$U$30</c:f>
              <c:multiLvlStrCache>
                <c:ptCount val="11"/>
                <c:lvl>
                  <c:pt idx="0">
                    <c:v>Kenton_Kirlin  </c:v>
                  </c:pt>
                  <c:pt idx="1">
                    <c:v>Andre_Purdy85  </c:v>
                  </c:pt>
                  <c:pt idx="2">
                    <c:v>Harley_Lind18</c:v>
                  </c:pt>
                  <c:pt idx="3">
                    <c:v>Arely_Bogan63</c:v>
                  </c:pt>
                  <c:pt idx="4">
                    <c:v>Aniya_Hackett</c:v>
                  </c:pt>
                  <c:pt idx="5">
                    <c:v>Travon.Waters</c:v>
                  </c:pt>
                  <c:pt idx="6">
                    <c:v>Kasandra_Homenick</c:v>
                  </c:pt>
                  <c:pt idx="7">
                    <c:v>Tabitha_Schamberger11</c:v>
                  </c:pt>
                  <c:pt idx="8">
                    <c:v>Gus93</c:v>
                  </c:pt>
                  <c:pt idx="9">
                    <c:v>Presley_McClure</c:v>
                  </c:pt>
                  <c:pt idx="10">
                    <c:v>Justina.Gaylord27</c:v>
                  </c:pt>
                </c:lvl>
                <c:lvl>
                  <c:pt idx="0">
                    <c:v>1</c:v>
                  </c:pt>
                  <c:pt idx="1">
                    <c:v>2</c:v>
                  </c:pt>
                  <c:pt idx="2">
                    <c:v>3</c:v>
                  </c:pt>
                  <c:pt idx="3">
                    <c:v>4</c:v>
                  </c:pt>
                  <c:pt idx="4">
                    <c:v>5</c:v>
                  </c:pt>
                  <c:pt idx="5">
                    <c:v>6</c:v>
                  </c:pt>
                  <c:pt idx="6">
                    <c:v>7</c:v>
                  </c:pt>
                  <c:pt idx="7">
                    <c:v>8</c:v>
                  </c:pt>
                  <c:pt idx="8">
                    <c:v>9</c:v>
                  </c:pt>
                  <c:pt idx="9">
                    <c:v>10</c:v>
                  </c:pt>
                  <c:pt idx="10">
                    <c:v>11</c:v>
                  </c:pt>
                </c:lvl>
              </c:multiLvlStrCache>
            </c:multiLvlStrRef>
          </c:cat>
          <c:val>
            <c:numRef>
              <c:f>Sheet1!$V$19:$V$30</c:f>
              <c:numCache>
                <c:formatCode>General</c:formatCode>
                <c:ptCount val="12"/>
                <c:pt idx="0">
                  <c:v>67</c:v>
                </c:pt>
                <c:pt idx="1">
                  <c:v>62</c:v>
                </c:pt>
                <c:pt idx="2">
                  <c:v>62</c:v>
                </c:pt>
                <c:pt idx="3">
                  <c:v>61</c:v>
                </c:pt>
                <c:pt idx="4">
                  <c:v>0</c:v>
                </c:pt>
                <c:pt idx="5">
                  <c:v>69</c:v>
                </c:pt>
                <c:pt idx="6">
                  <c:v>0</c:v>
                </c:pt>
                <c:pt idx="7">
                  <c:v>61</c:v>
                </c:pt>
                <c:pt idx="8">
                  <c:v>64</c:v>
                </c:pt>
                <c:pt idx="9">
                  <c:v>57</c:v>
                </c:pt>
                <c:pt idx="10">
                  <c:v>69</c:v>
                </c:pt>
              </c:numCache>
            </c:numRef>
          </c:val>
          <c:extLst>
            <c:ext xmlns:c16="http://schemas.microsoft.com/office/drawing/2014/chart" uri="{C3380CC4-5D6E-409C-BE32-E72D297353CC}">
              <c16:uniqueId val="{00000000-44FE-4CE7-9B54-B99B4312C0AC}"/>
            </c:ext>
          </c:extLst>
        </c:ser>
        <c:ser>
          <c:idx val="1"/>
          <c:order val="1"/>
          <c:tx>
            <c:strRef>
              <c:f>Sheet1!$W$18</c:f>
              <c:strCache>
                <c:ptCount val="1"/>
                <c:pt idx="0">
                  <c:v>total_comments</c:v>
                </c:pt>
              </c:strCache>
            </c:strRef>
          </c:tx>
          <c:spPr>
            <a:gradFill rotWithShape="1">
              <a:gsLst>
                <a:gs pos="0">
                  <a:schemeClr val="accent1">
                    <a:tint val="96000"/>
                    <a:lumMod val="102000"/>
                  </a:schemeClr>
                </a:gs>
                <a:gs pos="100000">
                  <a:schemeClr val="accent1">
                    <a:shade val="88000"/>
                    <a:lumMod val="94000"/>
                  </a:schemeClr>
                </a:gs>
              </a:gsLst>
              <a:path path="circle">
                <a:fillToRect l="50000" t="100000" r="100000" b="50000"/>
              </a:path>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invertIfNegative val="0"/>
          <c:cat>
            <c:multiLvlStrRef>
              <c:f>Sheet1!$T$19:$U$30</c:f>
              <c:multiLvlStrCache>
                <c:ptCount val="11"/>
                <c:lvl>
                  <c:pt idx="0">
                    <c:v>Kenton_Kirlin  </c:v>
                  </c:pt>
                  <c:pt idx="1">
                    <c:v>Andre_Purdy85  </c:v>
                  </c:pt>
                  <c:pt idx="2">
                    <c:v>Harley_Lind18</c:v>
                  </c:pt>
                  <c:pt idx="3">
                    <c:v>Arely_Bogan63</c:v>
                  </c:pt>
                  <c:pt idx="4">
                    <c:v>Aniya_Hackett</c:v>
                  </c:pt>
                  <c:pt idx="5">
                    <c:v>Travon.Waters</c:v>
                  </c:pt>
                  <c:pt idx="6">
                    <c:v>Kasandra_Homenick</c:v>
                  </c:pt>
                  <c:pt idx="7">
                    <c:v>Tabitha_Schamberger11</c:v>
                  </c:pt>
                  <c:pt idx="8">
                    <c:v>Gus93</c:v>
                  </c:pt>
                  <c:pt idx="9">
                    <c:v>Presley_McClure</c:v>
                  </c:pt>
                  <c:pt idx="10">
                    <c:v>Justina.Gaylord27</c:v>
                  </c:pt>
                </c:lvl>
                <c:lvl>
                  <c:pt idx="0">
                    <c:v>1</c:v>
                  </c:pt>
                  <c:pt idx="1">
                    <c:v>2</c:v>
                  </c:pt>
                  <c:pt idx="2">
                    <c:v>3</c:v>
                  </c:pt>
                  <c:pt idx="3">
                    <c:v>4</c:v>
                  </c:pt>
                  <c:pt idx="4">
                    <c:v>5</c:v>
                  </c:pt>
                  <c:pt idx="5">
                    <c:v>6</c:v>
                  </c:pt>
                  <c:pt idx="6">
                    <c:v>7</c:v>
                  </c:pt>
                  <c:pt idx="7">
                    <c:v>8</c:v>
                  </c:pt>
                  <c:pt idx="8">
                    <c:v>9</c:v>
                  </c:pt>
                  <c:pt idx="9">
                    <c:v>10</c:v>
                  </c:pt>
                  <c:pt idx="10">
                    <c:v>11</c:v>
                  </c:pt>
                </c:lvl>
              </c:multiLvlStrCache>
            </c:multiLvlStrRef>
          </c:cat>
          <c:val>
            <c:numRef>
              <c:f>Sheet1!$W$19:$W$30</c:f>
              <c:numCache>
                <c:formatCode>General</c:formatCode>
                <c:ptCount val="12"/>
                <c:pt idx="0">
                  <c:v>142</c:v>
                </c:pt>
                <c:pt idx="1">
                  <c:v>119</c:v>
                </c:pt>
                <c:pt idx="2">
                  <c:v>117</c:v>
                </c:pt>
                <c:pt idx="3">
                  <c:v>77</c:v>
                </c:pt>
                <c:pt idx="4">
                  <c:v>0</c:v>
                </c:pt>
                <c:pt idx="5">
                  <c:v>139</c:v>
                </c:pt>
                <c:pt idx="6">
                  <c:v>0</c:v>
                </c:pt>
                <c:pt idx="7">
                  <c:v>119</c:v>
                </c:pt>
                <c:pt idx="8">
                  <c:v>126</c:v>
                </c:pt>
                <c:pt idx="9">
                  <c:v>90</c:v>
                </c:pt>
                <c:pt idx="10">
                  <c:v>147</c:v>
                </c:pt>
              </c:numCache>
            </c:numRef>
          </c:val>
          <c:extLst>
            <c:ext xmlns:c16="http://schemas.microsoft.com/office/drawing/2014/chart" uri="{C3380CC4-5D6E-409C-BE32-E72D297353CC}">
              <c16:uniqueId val="{00000001-44FE-4CE7-9B54-B99B4312C0AC}"/>
            </c:ext>
          </c:extLst>
        </c:ser>
        <c:ser>
          <c:idx val="2"/>
          <c:order val="2"/>
          <c:tx>
            <c:strRef>
              <c:f>Sheet1!$X$18</c:f>
              <c:strCache>
                <c:ptCount val="1"/>
                <c:pt idx="0">
                  <c:v>total_photo_tags</c:v>
                </c:pt>
              </c:strCache>
            </c:strRef>
          </c:tx>
          <c:spPr>
            <a:gradFill rotWithShape="1">
              <a:gsLst>
                <a:gs pos="0">
                  <a:schemeClr val="accent1">
                    <a:shade val="65000"/>
                    <a:tint val="96000"/>
                    <a:lumMod val="102000"/>
                  </a:schemeClr>
                </a:gs>
                <a:gs pos="100000">
                  <a:schemeClr val="accent1">
                    <a:shade val="65000"/>
                    <a:shade val="88000"/>
                    <a:lumMod val="94000"/>
                  </a:schemeClr>
                </a:gs>
              </a:gsLst>
              <a:path path="circle">
                <a:fillToRect l="50000" t="100000" r="100000" b="50000"/>
              </a:path>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invertIfNegative val="0"/>
          <c:cat>
            <c:multiLvlStrRef>
              <c:f>Sheet1!$T$19:$U$30</c:f>
              <c:multiLvlStrCache>
                <c:ptCount val="11"/>
                <c:lvl>
                  <c:pt idx="0">
                    <c:v>Kenton_Kirlin  </c:v>
                  </c:pt>
                  <c:pt idx="1">
                    <c:v>Andre_Purdy85  </c:v>
                  </c:pt>
                  <c:pt idx="2">
                    <c:v>Harley_Lind18</c:v>
                  </c:pt>
                  <c:pt idx="3">
                    <c:v>Arely_Bogan63</c:v>
                  </c:pt>
                  <c:pt idx="4">
                    <c:v>Aniya_Hackett</c:v>
                  </c:pt>
                  <c:pt idx="5">
                    <c:v>Travon.Waters</c:v>
                  </c:pt>
                  <c:pt idx="6">
                    <c:v>Kasandra_Homenick</c:v>
                  </c:pt>
                  <c:pt idx="7">
                    <c:v>Tabitha_Schamberger11</c:v>
                  </c:pt>
                  <c:pt idx="8">
                    <c:v>Gus93</c:v>
                  </c:pt>
                  <c:pt idx="9">
                    <c:v>Presley_McClure</c:v>
                  </c:pt>
                  <c:pt idx="10">
                    <c:v>Justina.Gaylord27</c:v>
                  </c:pt>
                </c:lvl>
                <c:lvl>
                  <c:pt idx="0">
                    <c:v>1</c:v>
                  </c:pt>
                  <c:pt idx="1">
                    <c:v>2</c:v>
                  </c:pt>
                  <c:pt idx="2">
                    <c:v>3</c:v>
                  </c:pt>
                  <c:pt idx="3">
                    <c:v>4</c:v>
                  </c:pt>
                  <c:pt idx="4">
                    <c:v>5</c:v>
                  </c:pt>
                  <c:pt idx="5">
                    <c:v>6</c:v>
                  </c:pt>
                  <c:pt idx="6">
                    <c:v>7</c:v>
                  </c:pt>
                  <c:pt idx="7">
                    <c:v>8</c:v>
                  </c:pt>
                  <c:pt idx="8">
                    <c:v>9</c:v>
                  </c:pt>
                  <c:pt idx="9">
                    <c:v>10</c:v>
                  </c:pt>
                  <c:pt idx="10">
                    <c:v>11</c:v>
                  </c:pt>
                </c:lvl>
              </c:multiLvlStrCache>
            </c:multiLvlStrRef>
          </c:cat>
          <c:val>
            <c:numRef>
              <c:f>Sheet1!$X$19:$X$30</c:f>
              <c:numCache>
                <c:formatCode>General</c:formatCode>
                <c:ptCount val="12"/>
                <c:pt idx="0">
                  <c:v>15</c:v>
                </c:pt>
                <c:pt idx="1">
                  <c:v>7</c:v>
                </c:pt>
                <c:pt idx="2">
                  <c:v>7</c:v>
                </c:pt>
                <c:pt idx="3">
                  <c:v>2</c:v>
                </c:pt>
                <c:pt idx="4">
                  <c:v>0</c:v>
                </c:pt>
                <c:pt idx="5">
                  <c:v>8</c:v>
                </c:pt>
                <c:pt idx="6">
                  <c:v>0</c:v>
                </c:pt>
                <c:pt idx="7">
                  <c:v>10</c:v>
                </c:pt>
                <c:pt idx="8">
                  <c:v>5</c:v>
                </c:pt>
                <c:pt idx="9">
                  <c:v>8</c:v>
                </c:pt>
                <c:pt idx="10">
                  <c:v>8</c:v>
                </c:pt>
              </c:numCache>
            </c:numRef>
          </c:val>
          <c:extLst>
            <c:ext xmlns:c16="http://schemas.microsoft.com/office/drawing/2014/chart" uri="{C3380CC4-5D6E-409C-BE32-E72D297353CC}">
              <c16:uniqueId val="{00000002-44FE-4CE7-9B54-B99B4312C0AC}"/>
            </c:ext>
          </c:extLst>
        </c:ser>
        <c:dLbls>
          <c:showLegendKey val="0"/>
          <c:showVal val="0"/>
          <c:showCatName val="0"/>
          <c:showSerName val="0"/>
          <c:showPercent val="0"/>
          <c:showBubbleSize val="0"/>
        </c:dLbls>
        <c:gapWidth val="100"/>
        <c:overlap val="-24"/>
        <c:axId val="1522005296"/>
        <c:axId val="1522002800"/>
      </c:barChart>
      <c:catAx>
        <c:axId val="1522005296"/>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dirty="0">
                    <a:latin typeface="Calibri" panose="020F0502020204030204" pitchFamily="34" charset="0"/>
                    <a:ea typeface="Calibri" panose="020F0502020204030204" pitchFamily="34" charset="0"/>
                    <a:cs typeface="Calibri" panose="020F0502020204030204" pitchFamily="34" charset="0"/>
                  </a:rPr>
                  <a:t>Username</a:t>
                </a:r>
              </a:p>
            </c:rich>
          </c:tx>
          <c:layout>
            <c:manualLayout>
              <c:xMode val="edge"/>
              <c:yMode val="edge"/>
              <c:x val="0.46425591521556325"/>
              <c:y val="0.9039460354890372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522002800"/>
        <c:crosses val="autoZero"/>
        <c:auto val="1"/>
        <c:lblAlgn val="ctr"/>
        <c:lblOffset val="100"/>
        <c:noMultiLvlLbl val="0"/>
      </c:catAx>
      <c:valAx>
        <c:axId val="1522002800"/>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latin typeface="Calibri" panose="020F0502020204030204" pitchFamily="34" charset="0"/>
                    <a:ea typeface="Calibri" panose="020F0502020204030204" pitchFamily="34" charset="0"/>
                    <a:cs typeface="Calibri" panose="020F0502020204030204" pitchFamily="34" charset="0"/>
                  </a:rPr>
                  <a:t>Engagement Count (Likes, Comments, Tags)</a:t>
                </a:r>
              </a:p>
            </c:rich>
          </c:tx>
          <c:layout>
            <c:manualLayout>
              <c:xMode val="edge"/>
              <c:yMode val="edge"/>
              <c:x val="1.7050298380221655E-2"/>
              <c:y val="0.29197642085229686"/>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5220052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a:noFill/>
    </a:ln>
    <a:effectLst/>
  </c:spPr>
  <c:txPr>
    <a:bodyPr/>
    <a:lstStyle/>
    <a:p>
      <a:pPr>
        <a:defRPr sz="12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sz="1200" b="1" i="0" u="none" strike="noStrike" baseline="0">
                <a:latin typeface="Calibri" panose="020F0502020204030204" pitchFamily="34" charset="0"/>
                <a:ea typeface="Calibri" panose="020F0502020204030204" pitchFamily="34" charset="0"/>
                <a:cs typeface="Calibri" panose="020F0502020204030204" pitchFamily="34" charset="0"/>
              </a:rPr>
              <a:t>User Activity Distribution</a:t>
            </a:r>
            <a:endParaRPr lang="en-US" sz="1200">
              <a:latin typeface="Calibri" panose="020F0502020204030204" pitchFamily="34" charset="0"/>
              <a:ea typeface="Calibri" panose="020F0502020204030204" pitchFamily="34" charset="0"/>
              <a:cs typeface="Calibri" panose="020F0502020204030204" pitchFamily="34" charset="0"/>
            </a:endParaRP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0.1266668247794327"/>
          <c:y val="5.4972496639697603E-2"/>
          <c:w val="0.85589132027101267"/>
          <c:h val="0.81631839089024472"/>
        </c:manualLayout>
      </c:layout>
      <c:barChart>
        <c:barDir val="col"/>
        <c:grouping val="clustered"/>
        <c:varyColors val="0"/>
        <c:ser>
          <c:idx val="0"/>
          <c:order val="0"/>
          <c:tx>
            <c:strRef>
              <c:f>Sheet1!$M$1</c:f>
              <c:strCache>
                <c:ptCount val="1"/>
                <c:pt idx="0">
                  <c:v>Count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invertIfNegative val="0"/>
          <c:cat>
            <c:strRef>
              <c:f>Sheet1!$L$2:$L$4</c:f>
              <c:strCache>
                <c:ptCount val="3"/>
                <c:pt idx="0">
                  <c:v>High Activity</c:v>
                </c:pt>
                <c:pt idx="1">
                  <c:v>Medium Activity</c:v>
                </c:pt>
                <c:pt idx="2">
                  <c:v>Low Activity</c:v>
                </c:pt>
              </c:strCache>
            </c:strRef>
          </c:cat>
          <c:val>
            <c:numRef>
              <c:f>Sheet1!$M$2:$M$4</c:f>
              <c:numCache>
                <c:formatCode>General</c:formatCode>
                <c:ptCount val="3"/>
                <c:pt idx="0">
                  <c:v>51</c:v>
                </c:pt>
                <c:pt idx="1">
                  <c:v>36</c:v>
                </c:pt>
                <c:pt idx="2">
                  <c:v>13</c:v>
                </c:pt>
              </c:numCache>
            </c:numRef>
          </c:val>
          <c:extLst>
            <c:ext xmlns:c16="http://schemas.microsoft.com/office/drawing/2014/chart" uri="{C3380CC4-5D6E-409C-BE32-E72D297353CC}">
              <c16:uniqueId val="{00000000-A6F0-4093-80B6-10E930D41E6D}"/>
            </c:ext>
          </c:extLst>
        </c:ser>
        <c:dLbls>
          <c:showLegendKey val="0"/>
          <c:showVal val="0"/>
          <c:showCatName val="0"/>
          <c:showSerName val="0"/>
          <c:showPercent val="0"/>
          <c:showBubbleSize val="0"/>
        </c:dLbls>
        <c:gapWidth val="100"/>
        <c:overlap val="-24"/>
        <c:axId val="1517771360"/>
        <c:axId val="1517771776"/>
      </c:barChart>
      <c:catAx>
        <c:axId val="1517771360"/>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sz="1200" b="0" i="0" u="none" strike="noStrike" baseline="0">
                    <a:latin typeface="Calibri" panose="020F0502020204030204" pitchFamily="34" charset="0"/>
                    <a:ea typeface="Calibri" panose="020F0502020204030204" pitchFamily="34" charset="0"/>
                    <a:cs typeface="Calibri" panose="020F0502020204030204" pitchFamily="34" charset="0"/>
                  </a:rPr>
                  <a:t>User Activity Level</a:t>
                </a:r>
                <a:endParaRPr lang="en-US" sz="1200">
                  <a:latin typeface="Calibri" panose="020F0502020204030204" pitchFamily="34" charset="0"/>
                  <a:ea typeface="Calibri" panose="020F0502020204030204" pitchFamily="34" charset="0"/>
                  <a:cs typeface="Calibri" panose="020F0502020204030204" pitchFamily="34" charset="0"/>
                </a:endParaRPr>
              </a:p>
            </c:rich>
          </c:tx>
          <c:layout>
            <c:manualLayout>
              <c:xMode val="edge"/>
              <c:yMode val="edge"/>
              <c:x val="0.45884435379312527"/>
              <c:y val="0.9639630311862633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17771776"/>
        <c:crosses val="autoZero"/>
        <c:auto val="1"/>
        <c:lblAlgn val="ctr"/>
        <c:lblOffset val="100"/>
        <c:noMultiLvlLbl val="0"/>
      </c:catAx>
      <c:valAx>
        <c:axId val="1517771776"/>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sz="1200" b="0" i="0" u="none" strike="noStrike" baseline="0">
                    <a:latin typeface="Calibri" panose="020F0502020204030204" pitchFamily="34" charset="0"/>
                    <a:ea typeface="Calibri" panose="020F0502020204030204" pitchFamily="34" charset="0"/>
                    <a:cs typeface="Calibri" panose="020F0502020204030204" pitchFamily="34" charset="0"/>
                  </a:rPr>
                  <a:t>Number of Users</a:t>
                </a:r>
                <a:endParaRPr lang="en-US" sz="1200">
                  <a:latin typeface="Calibri" panose="020F0502020204030204" pitchFamily="34" charset="0"/>
                  <a:ea typeface="Calibri" panose="020F0502020204030204" pitchFamily="34" charset="0"/>
                  <a:cs typeface="Calibri" panose="020F0502020204030204" pitchFamily="34" charset="0"/>
                </a:endParaRPr>
              </a:p>
            </c:rich>
          </c:tx>
          <c:layout>
            <c:manualLayout>
              <c:xMode val="edge"/>
              <c:yMode val="edge"/>
              <c:x val="1.1318660468646236E-2"/>
              <c:y val="0.3966007371582152"/>
            </c:manualLayout>
          </c:layout>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51777136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Table>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Reversed" id="21">
  <a:schemeClr val="accent1"/>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12644C-0FDD-4EB8-99BA-6B4B8D2BD803}" type="datetimeFigureOut">
              <a:rPr lang="en-US" smtClean="0"/>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965A87-7694-46C3-9189-F93C90913695}" type="slidenum">
              <a:rPr lang="en-US" smtClean="0"/>
              <a:t>‹#›</a:t>
            </a:fld>
            <a:endParaRPr lang="en-US"/>
          </a:p>
        </p:txBody>
      </p:sp>
    </p:spTree>
    <p:extLst>
      <p:ext uri="{BB962C8B-B14F-4D97-AF65-F5344CB8AC3E}">
        <p14:creationId xmlns:p14="http://schemas.microsoft.com/office/powerpoint/2010/main" val="2316827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965A87-7694-46C3-9189-F93C90913695}" type="slidenum">
              <a:rPr lang="en-US" smtClean="0"/>
              <a:t>3</a:t>
            </a:fld>
            <a:endParaRPr lang="en-US"/>
          </a:p>
        </p:txBody>
      </p:sp>
    </p:spTree>
    <p:extLst>
      <p:ext uri="{BB962C8B-B14F-4D97-AF65-F5344CB8AC3E}">
        <p14:creationId xmlns:p14="http://schemas.microsoft.com/office/powerpoint/2010/main" val="3743600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965A87-7694-46C3-9189-F93C90913695}" type="slidenum">
              <a:rPr lang="en-US" smtClean="0"/>
              <a:t>5</a:t>
            </a:fld>
            <a:endParaRPr lang="en-US"/>
          </a:p>
        </p:txBody>
      </p:sp>
    </p:spTree>
    <p:extLst>
      <p:ext uri="{BB962C8B-B14F-4D97-AF65-F5344CB8AC3E}">
        <p14:creationId xmlns:p14="http://schemas.microsoft.com/office/powerpoint/2010/main" val="1721760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965A87-7694-46C3-9189-F93C90913695}" type="slidenum">
              <a:rPr lang="en-US" smtClean="0"/>
              <a:t>9</a:t>
            </a:fld>
            <a:endParaRPr lang="en-US"/>
          </a:p>
        </p:txBody>
      </p:sp>
    </p:spTree>
    <p:extLst>
      <p:ext uri="{BB962C8B-B14F-4D97-AF65-F5344CB8AC3E}">
        <p14:creationId xmlns:p14="http://schemas.microsoft.com/office/powerpoint/2010/main" val="65253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819150" y="-7144"/>
            <a:ext cx="7522368" cy="10294145"/>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4392602" y="2070103"/>
            <a:ext cx="12861933" cy="3924299"/>
          </a:xfrm>
        </p:spPr>
        <p:txBody>
          <a:bodyPr anchor="b">
            <a:normAutofit/>
          </a:bodyPr>
          <a:lstStyle>
            <a:lvl1pPr algn="r">
              <a:defRPr sz="9000">
                <a:effectLst/>
              </a:defRPr>
            </a:lvl1pPr>
          </a:lstStyle>
          <a:p>
            <a:r>
              <a:rPr lang="en-US"/>
              <a:t>Click to edit Master title style</a:t>
            </a:r>
            <a:endParaRPr lang="en-US" dirty="0"/>
          </a:p>
        </p:txBody>
      </p:sp>
      <p:sp>
        <p:nvSpPr>
          <p:cNvPr id="3" name="Subtitle 2"/>
          <p:cNvSpPr>
            <a:spLocks noGrp="1"/>
          </p:cNvSpPr>
          <p:nvPr>
            <p:ph type="subTitle" idx="1"/>
          </p:nvPr>
        </p:nvSpPr>
        <p:spPr>
          <a:xfrm>
            <a:off x="6773066" y="5994401"/>
            <a:ext cx="10481468" cy="2082801"/>
          </a:xfrm>
        </p:spPr>
        <p:txBody>
          <a:bodyPr anchor="t">
            <a:normAutofit/>
          </a:bodyPr>
          <a:lstStyle>
            <a:lvl1pPr marL="0" indent="0" algn="r">
              <a:buNone/>
              <a:defRPr sz="3150">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a:xfrm>
            <a:off x="7998618" y="8824913"/>
            <a:ext cx="6486066" cy="547688"/>
          </a:xfrm>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380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27785" y="8800697"/>
            <a:ext cx="8267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3072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8419" y="4000498"/>
            <a:ext cx="13396121" cy="3165573"/>
          </a:xfrm>
        </p:spPr>
        <p:txBody>
          <a:bodyPr anchor="b"/>
          <a:lstStyle>
            <a:lvl1pPr algn="r">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3858417" y="7166072"/>
            <a:ext cx="13396122"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90962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26467" y="1028701"/>
            <a:ext cx="15028070" cy="26288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226469" y="4000499"/>
            <a:ext cx="7342583" cy="4686302"/>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911951" y="4000500"/>
            <a:ext cx="7342584" cy="4686300"/>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7485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2658269" y="3987800"/>
            <a:ext cx="6910782"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226467" y="5003006"/>
            <a:ext cx="7342584" cy="3683793"/>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320731" y="4000500"/>
            <a:ext cx="6933806"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911951" y="5003006"/>
            <a:ext cx="7342584" cy="3683793"/>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264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7677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3842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2400300"/>
            <a:ext cx="5323682" cy="2057400"/>
          </a:xfrm>
        </p:spPr>
        <p:txBody>
          <a:bodyPr anchor="b">
            <a:normAutofit/>
          </a:bodyPr>
          <a:lstStyle>
            <a:lvl1pPr algn="ctr">
              <a:defRPr sz="3600" b="0"/>
            </a:lvl1pPr>
          </a:lstStyle>
          <a:p>
            <a:r>
              <a:rPr lang="en-US"/>
              <a:t>Click to edit Master title style</a:t>
            </a:r>
            <a:endParaRPr lang="en-US" dirty="0"/>
          </a:p>
        </p:txBody>
      </p:sp>
      <p:sp>
        <p:nvSpPr>
          <p:cNvPr id="3" name="Content Placeholder 2"/>
          <p:cNvSpPr>
            <a:spLocks noGrp="1"/>
          </p:cNvSpPr>
          <p:nvPr>
            <p:ph idx="1"/>
          </p:nvPr>
        </p:nvSpPr>
        <p:spPr>
          <a:xfrm>
            <a:off x="7893050" y="1028699"/>
            <a:ext cx="9361485" cy="7658102"/>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26469" y="4457700"/>
            <a:ext cx="5323682" cy="2743200"/>
          </a:xfrm>
        </p:spPr>
        <p:txBody>
          <a:bodyPr>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52810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4086" y="2628899"/>
            <a:ext cx="8139237" cy="2057400"/>
          </a:xfrm>
        </p:spPr>
        <p:txBody>
          <a:bodyPr anchor="b">
            <a:normAutofit/>
          </a:bodyPr>
          <a:lstStyle>
            <a:lvl1pPr algn="ctr">
              <a:defRPr sz="42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11392023" y="1371600"/>
            <a:ext cx="4921461" cy="6858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2224086" y="4686299"/>
            <a:ext cx="8139237" cy="2743200"/>
          </a:xfrm>
        </p:spPr>
        <p:txBody>
          <a:bodyPr>
            <a:normAutofit/>
          </a:bodyPr>
          <a:lstStyle>
            <a:lvl1pPr marL="0" indent="0" algn="ctr">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46067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7" y="7099298"/>
            <a:ext cx="15028067" cy="850107"/>
          </a:xfrm>
        </p:spPr>
        <p:txBody>
          <a:bodyPr anchor="b">
            <a:normAutofit/>
          </a:bodyPr>
          <a:lstStyle>
            <a:lvl1pPr algn="ctr">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9018" y="1398168"/>
            <a:ext cx="12338916" cy="4747464"/>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2226467" y="7949405"/>
            <a:ext cx="15028067" cy="740568"/>
          </a:xfrm>
        </p:spPr>
        <p:txBody>
          <a:bodyPr>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4892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1028700"/>
            <a:ext cx="15028067" cy="4572000"/>
          </a:xfrm>
        </p:spPr>
        <p:txBody>
          <a:bodyPr anchor="ctr">
            <a:normAutofit/>
          </a:bodyPr>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9" y="6515100"/>
            <a:ext cx="15028070"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25920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655217" y="5143499"/>
            <a:ext cx="12799223" cy="571500"/>
          </a:xfrm>
        </p:spPr>
        <p:txBody>
          <a:bodyPr anchor="ctr">
            <a:normAutofit/>
          </a:bodyPr>
          <a:lstStyle>
            <a:lvl1pPr marL="0" indent="0">
              <a:buFontTx/>
              <a:buNone/>
              <a:defRPr sz="2700"/>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2226467" y="6515100"/>
            <a:ext cx="15028067"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79265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226470" y="4962872"/>
            <a:ext cx="15028064" cy="2203200"/>
          </a:xfrm>
        </p:spPr>
        <p:txBody>
          <a:bodyPr anchor="b">
            <a:normAutofit/>
          </a:bodyPr>
          <a:lstStyle>
            <a:lvl1pPr algn="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8" y="7166072"/>
            <a:ext cx="15028065"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59216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226470" y="5829300"/>
            <a:ext cx="15028065" cy="1333500"/>
          </a:xfrm>
        </p:spPr>
        <p:txBody>
          <a:bodyPr vert="horz" lIns="91440" tIns="45720" rIns="91440" bIns="45720" rtlCol="0" anchor="b">
            <a:normAutofit/>
          </a:bodyPr>
          <a:lstStyle>
            <a:lvl1pPr algn="r">
              <a:buNone/>
              <a:defRPr lang="en-US" sz="36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8" y="7162800"/>
            <a:ext cx="15028065" cy="1524000"/>
          </a:xfrm>
        </p:spPr>
        <p:txBody>
          <a:bodyPr anchor="t">
            <a:normAutofit/>
          </a:bodyPr>
          <a:lstStyle>
            <a:lvl1pPr marL="0" indent="0" algn="r">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3480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226470" y="1028701"/>
            <a:ext cx="15028068" cy="409098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2226469" y="5257800"/>
            <a:ext cx="15028070" cy="1257300"/>
          </a:xfrm>
        </p:spPr>
        <p:txBody>
          <a:bodyPr vert="horz" lIns="91440" tIns="45720" rIns="91440" bIns="45720" rtlCol="0" anchor="b">
            <a:normAutofit/>
          </a:bodyPr>
          <a:lstStyle>
            <a:lvl1pPr>
              <a:buNone/>
              <a:defRPr lang="en-US" sz="42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7" y="6515100"/>
            <a:ext cx="15028070" cy="2171700"/>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251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546871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98983" y="1028700"/>
            <a:ext cx="2655554" cy="76581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26468" y="1028700"/>
            <a:ext cx="12029613" cy="76581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2045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226219" y="1"/>
            <a:ext cx="3655220" cy="10287002"/>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2226467" y="1028701"/>
            <a:ext cx="15028070" cy="26288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6466" y="4000499"/>
            <a:ext cx="15028070" cy="468630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598984" y="8824913"/>
            <a:ext cx="1714500"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1D8BD707-D9CF-40AE-B4C6-C98DA3205C09}" type="datetimeFigureOut">
              <a:rPr lang="en-US" smtClean="0"/>
              <a:pPr/>
              <a:t>6/26/2026</a:t>
            </a:fld>
            <a:endParaRPr lang="en-US"/>
          </a:p>
        </p:txBody>
      </p:sp>
      <p:sp>
        <p:nvSpPr>
          <p:cNvPr id="5" name="Footer Placeholder 4"/>
          <p:cNvSpPr>
            <a:spLocks noGrp="1"/>
          </p:cNvSpPr>
          <p:nvPr>
            <p:ph type="ftr" sz="quarter" idx="3"/>
          </p:nvPr>
        </p:nvSpPr>
        <p:spPr>
          <a:xfrm>
            <a:off x="3858419" y="8824913"/>
            <a:ext cx="10626266" cy="547688"/>
          </a:xfrm>
          <a:prstGeom prst="rect">
            <a:avLst/>
          </a:prstGeom>
        </p:spPr>
        <p:txBody>
          <a:bodyPr vert="horz" lIns="91440" tIns="45720" rIns="91440" bIns="45720" rtlCol="0" anchor="ctr"/>
          <a:lstStyle>
            <a:lvl1pPr algn="l">
              <a:defRPr sz="15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6427785" y="8824913"/>
            <a:ext cx="826751"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1783712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685800" rtl="0" eaLnBrk="1" latinLnBrk="0" hangingPunct="1">
        <a:spcBef>
          <a:spcPct val="0"/>
        </a:spcBef>
        <a:buNone/>
        <a:defRPr sz="6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accent1">
            <a:lumMod val="75000"/>
          </a:schemeClr>
        </a:buClr>
        <a:buSzPct val="145000"/>
        <a:buFont typeface="Arial"/>
        <a:buChar char="•"/>
        <a:defRPr sz="3600" kern="1200" cap="none">
          <a:solidFill>
            <a:schemeClr val="tx1"/>
          </a:solidFill>
          <a:effectLst/>
          <a:latin typeface="+mn-lt"/>
          <a:ea typeface="+mn-ea"/>
          <a:cs typeface="+mn-cs"/>
        </a:defRPr>
      </a:lvl1pPr>
      <a:lvl2pPr marL="1114425" indent="-428625" algn="l" defTabSz="685800" rtl="0" eaLnBrk="1" latinLnBrk="0" hangingPunct="1">
        <a:spcBef>
          <a:spcPct val="20000"/>
        </a:spcBef>
        <a:spcAft>
          <a:spcPts val="900"/>
        </a:spcAft>
        <a:buClr>
          <a:schemeClr val="accent1">
            <a:lumMod val="75000"/>
          </a:schemeClr>
        </a:buClr>
        <a:buSzPct val="145000"/>
        <a:buFont typeface="Arial"/>
        <a:buChar char="•"/>
        <a:defRPr sz="3000" kern="1200" cap="none">
          <a:solidFill>
            <a:schemeClr val="tx1"/>
          </a:solidFill>
          <a:effectLst/>
          <a:latin typeface="+mn-lt"/>
          <a:ea typeface="+mn-ea"/>
          <a:cs typeface="+mn-cs"/>
        </a:defRPr>
      </a:lvl2pPr>
      <a:lvl3pPr marL="1800225" indent="-428625" algn="l" defTabSz="685800" rtl="0" eaLnBrk="1" latinLnBrk="0" hangingPunct="1">
        <a:spcBef>
          <a:spcPct val="20000"/>
        </a:spcBef>
        <a:spcAft>
          <a:spcPts val="900"/>
        </a:spcAft>
        <a:buClr>
          <a:schemeClr val="accent1">
            <a:lumMod val="75000"/>
          </a:schemeClr>
        </a:buClr>
        <a:buSzPct val="145000"/>
        <a:buFont typeface="Arial"/>
        <a:buChar char="•"/>
        <a:defRPr sz="2700" kern="1200" cap="none">
          <a:solidFill>
            <a:schemeClr val="tx1"/>
          </a:solidFill>
          <a:effectLst/>
          <a:latin typeface="+mn-lt"/>
          <a:ea typeface="+mn-ea"/>
          <a:cs typeface="+mn-cs"/>
        </a:defRPr>
      </a:lvl3pPr>
      <a:lvl4pPr marL="2314575" indent="-257175" algn="l" defTabSz="685800" rtl="0" eaLnBrk="1" latinLnBrk="0" hangingPunct="1">
        <a:spcBef>
          <a:spcPct val="20000"/>
        </a:spcBef>
        <a:spcAft>
          <a:spcPts val="900"/>
        </a:spcAft>
        <a:buClr>
          <a:schemeClr val="accent1">
            <a:lumMod val="75000"/>
          </a:schemeClr>
        </a:buClr>
        <a:buSzPct val="145000"/>
        <a:buFont typeface="Arial"/>
        <a:buChar char="•"/>
        <a:defRPr sz="2400" kern="1200" cap="none">
          <a:solidFill>
            <a:schemeClr val="tx1"/>
          </a:solidFill>
          <a:effectLst/>
          <a:latin typeface="+mn-lt"/>
          <a:ea typeface="+mn-ea"/>
          <a:cs typeface="+mn-cs"/>
        </a:defRPr>
      </a:lvl4pPr>
      <a:lvl5pPr marL="3000375" indent="-257175"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5pPr>
      <a:lvl6pPr marL="37719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6pPr>
      <a:lvl7pPr marL="44577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7pPr>
      <a:lvl8pPr marL="51435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8pPr>
      <a:lvl9pPr marL="58293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hart" Target="../charts/chart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hart" Target="../charts/chart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hart" Target="../charts/chart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hade val="85000"/>
          </a:srgbClr>
        </a:solidFill>
        <a:effectLst/>
      </p:bgPr>
    </p:bg>
    <p:spTree>
      <p:nvGrpSpPr>
        <p:cNvPr id="1" name=""/>
        <p:cNvGrpSpPr/>
        <p:nvPr/>
      </p:nvGrpSpPr>
      <p:grpSpPr>
        <a:xfrm>
          <a:off x="0" y="0"/>
          <a:ext cx="0" cy="0"/>
          <a:chOff x="0" y="0"/>
          <a:chExt cx="0" cy="0"/>
        </a:xfrm>
      </p:grpSpPr>
      <p:sp>
        <p:nvSpPr>
          <p:cNvPr id="10" name="TextBox 10"/>
          <p:cNvSpPr txBox="1"/>
          <p:nvPr/>
        </p:nvSpPr>
        <p:spPr>
          <a:xfrm>
            <a:off x="1536894" y="4281027"/>
            <a:ext cx="14752046" cy="1724945"/>
          </a:xfrm>
          <a:prstGeom prst="rect">
            <a:avLst/>
          </a:prstGeom>
        </p:spPr>
        <p:txBody>
          <a:bodyPr lIns="0" tIns="0" rIns="0" bIns="0" rtlCol="0" anchor="t">
            <a:spAutoFit/>
          </a:bodyPr>
          <a:lstStyle/>
          <a:p>
            <a:pPr algn="ctr">
              <a:lnSpc>
                <a:spcPts val="14122"/>
              </a:lnSpc>
            </a:pPr>
            <a:r>
              <a:rPr lang="en-US" sz="10087" b="1" dirty="0">
                <a:solidFill>
                  <a:srgbClr val="0166C2"/>
                </a:solidFill>
                <a:latin typeface="Calibri" panose="020F0502020204030204" pitchFamily="34" charset="0"/>
                <a:ea typeface="Calibri" panose="020F0502020204030204" pitchFamily="34" charset="0"/>
                <a:cs typeface="Calibri" panose="020F0502020204030204" pitchFamily="34" charset="0"/>
                <a:sym typeface="Luktao Bold"/>
              </a:rPr>
              <a:t>SOCIAL MEDIA PROJECT</a:t>
            </a:r>
          </a:p>
        </p:txBody>
      </p:sp>
      <p:sp>
        <p:nvSpPr>
          <p:cNvPr id="11" name="TextBox 11"/>
          <p:cNvSpPr txBox="1"/>
          <p:nvPr/>
        </p:nvSpPr>
        <p:spPr>
          <a:xfrm>
            <a:off x="11887200" y="9100228"/>
            <a:ext cx="6400800" cy="961802"/>
          </a:xfrm>
          <a:prstGeom prst="rect">
            <a:avLst/>
          </a:prstGeom>
        </p:spPr>
        <p:txBody>
          <a:bodyPr wrap="square" lIns="0" tIns="0" rIns="0" bIns="0" rtlCol="0" anchor="t">
            <a:spAutoFit/>
          </a:bodyPr>
          <a:lstStyle/>
          <a:p>
            <a:pPr algn="ctr">
              <a:lnSpc>
                <a:spcPts val="7483"/>
              </a:lnSpc>
            </a:pPr>
            <a:r>
              <a:rPr lang="en-US" sz="5345" dirty="0">
                <a:solidFill>
                  <a:srgbClr val="0166C2"/>
                </a:solidFill>
                <a:latin typeface="MV Boli" panose="02000500030200090000" pitchFamily="2" charset="0"/>
                <a:ea typeface="Nourd"/>
                <a:cs typeface="MV Boli" panose="02000500030200090000" pitchFamily="2" charset="0"/>
                <a:sym typeface="Nourd"/>
              </a:rPr>
              <a:t>By Vikrant Rajput</a:t>
            </a:r>
          </a:p>
        </p:txBody>
      </p:sp>
      <p:pic>
        <p:nvPicPr>
          <p:cNvPr id="5" name="Picture 4">
            <a:extLst>
              <a:ext uri="{FF2B5EF4-FFF2-40B4-BE49-F238E27FC236}">
                <a16:creationId xmlns:a16="http://schemas.microsoft.com/office/drawing/2014/main" id="{34DE3DA0-BAEE-40C2-BA7A-8EB77BE4AB2B}"/>
              </a:ext>
            </a:extLst>
          </p:cNvPr>
          <p:cNvPicPr>
            <a:picLocks noChangeAspect="1"/>
          </p:cNvPicPr>
          <p:nvPr/>
        </p:nvPicPr>
        <p:blipFill>
          <a:blip r:embed="rId2">
            <a:alphaModFix amt="66000"/>
            <a:extLst>
              <a:ext uri="{28A0092B-C50C-407E-A947-70E740481C1C}">
                <a14:useLocalDpi xmlns:a14="http://schemas.microsoft.com/office/drawing/2010/main" val="0"/>
              </a:ext>
            </a:extLst>
          </a:blip>
          <a:stretch>
            <a:fillRect/>
          </a:stretch>
        </p:blipFill>
        <p:spPr>
          <a:xfrm>
            <a:off x="6855517" y="0"/>
            <a:ext cx="4114800" cy="42354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a:extLst>
              <a:ext uri="{FF2B5EF4-FFF2-40B4-BE49-F238E27FC236}">
                <a16:creationId xmlns:a16="http://schemas.microsoft.com/office/drawing/2014/main" id="{C0B11B55-1E61-4D4C-B40B-3F36EAABE533}"/>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7034026" y="6304247"/>
            <a:ext cx="3757783" cy="3757783"/>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2743200" y="1943100"/>
            <a:ext cx="8158863" cy="6581442"/>
          </a:xfrm>
          <a:prstGeom prst="rect">
            <a:avLst/>
          </a:prstGeom>
        </p:spPr>
        <p:txBody>
          <a:bodyPr wrap="square" lIns="0" tIns="0" rIns="0" bIns="0" rtlCol="0" anchor="t">
            <a:spAutoFit/>
          </a:bodyPr>
          <a:lstStyle/>
          <a:p>
            <a:pPr marL="728960" lvl="1" indent="-364480">
              <a:lnSpc>
                <a:spcPts val="4726"/>
              </a:lnSpc>
              <a:buFont typeface="Arial"/>
              <a:buChar char="•"/>
            </a:pPr>
            <a:r>
              <a:rPr lang="en-US" sz="2900" dirty="0">
                <a:latin typeface="Calibri" panose="020F0502020204030204" pitchFamily="34" charset="0"/>
                <a:ea typeface="Calibri" panose="020F0502020204030204" pitchFamily="34" charset="0"/>
                <a:cs typeface="Calibri" panose="020F0502020204030204" pitchFamily="34" charset="0"/>
                <a:sym typeface="Glacial Indifference"/>
              </a:rPr>
              <a:t>About Meta</a:t>
            </a:r>
          </a:p>
          <a:p>
            <a:pPr marL="728960" lvl="1" indent="-364480">
              <a:lnSpc>
                <a:spcPts val="4726"/>
              </a:lnSpc>
              <a:buFont typeface="Arial"/>
              <a:buChar char="•"/>
            </a:pPr>
            <a:r>
              <a:rPr lang="en-US" sz="2900" dirty="0">
                <a:latin typeface="Calibri" panose="020F0502020204030204" pitchFamily="34" charset="0"/>
                <a:ea typeface="Calibri" panose="020F0502020204030204" pitchFamily="34" charset="0"/>
                <a:cs typeface="Calibri" panose="020F0502020204030204" pitchFamily="34" charset="0"/>
                <a:sym typeface="Glacial Indifference"/>
              </a:rPr>
              <a:t>Problem Statement</a:t>
            </a:r>
          </a:p>
          <a:p>
            <a:pPr marL="728960" lvl="1" indent="-364480">
              <a:lnSpc>
                <a:spcPts val="4726"/>
              </a:lnSpc>
              <a:buFont typeface="Arial"/>
              <a:buChar char="•"/>
            </a:pPr>
            <a:r>
              <a:rPr lang="en-US" sz="2900" dirty="0">
                <a:latin typeface="Calibri" panose="020F0502020204030204" pitchFamily="34" charset="0"/>
                <a:ea typeface="Calibri" panose="020F0502020204030204" pitchFamily="34" charset="0"/>
                <a:cs typeface="Calibri" panose="020F0502020204030204" pitchFamily="34" charset="0"/>
                <a:sym typeface="Glacial Indifference"/>
              </a:rPr>
              <a:t>Data Description</a:t>
            </a:r>
          </a:p>
          <a:p>
            <a:pPr marL="728960" lvl="1" indent="-364480">
              <a:lnSpc>
                <a:spcPts val="4726"/>
              </a:lnSpc>
              <a:buFont typeface="Arial"/>
              <a:buChar char="•"/>
            </a:pPr>
            <a:r>
              <a:rPr lang="en-US" sz="2900" dirty="0">
                <a:latin typeface="Calibri" panose="020F0502020204030204" pitchFamily="34" charset="0"/>
                <a:ea typeface="Calibri" panose="020F0502020204030204" pitchFamily="34" charset="0"/>
                <a:cs typeface="Calibri" panose="020F0502020204030204" pitchFamily="34" charset="0"/>
                <a:sym typeface="Glacial Indifference"/>
              </a:rPr>
              <a:t>Data Overview</a:t>
            </a:r>
          </a:p>
          <a:p>
            <a:pPr marL="728960" lvl="1" indent="-364480">
              <a:lnSpc>
                <a:spcPts val="4726"/>
              </a:lnSpc>
              <a:buFont typeface="Arial"/>
              <a:buChar char="•"/>
            </a:pPr>
            <a:r>
              <a:rPr lang="en-US" sz="2900" dirty="0">
                <a:latin typeface="Calibri" panose="020F0502020204030204" pitchFamily="34" charset="0"/>
                <a:ea typeface="Calibri" panose="020F0502020204030204" pitchFamily="34" charset="0"/>
                <a:cs typeface="Calibri" panose="020F0502020204030204" pitchFamily="34" charset="0"/>
                <a:sym typeface="Glacial Indifference"/>
              </a:rPr>
              <a:t>Content Performance</a:t>
            </a:r>
          </a:p>
          <a:p>
            <a:pPr marL="728960" lvl="1" indent="-364480">
              <a:lnSpc>
                <a:spcPts val="4726"/>
              </a:lnSpc>
              <a:buFont typeface="Arial"/>
              <a:buChar char="•"/>
            </a:pPr>
            <a:r>
              <a:rPr lang="en-US" sz="2900" dirty="0">
                <a:latin typeface="Calibri" panose="020F0502020204030204" pitchFamily="34" charset="0"/>
                <a:ea typeface="Calibri" panose="020F0502020204030204" pitchFamily="34" charset="0"/>
                <a:cs typeface="Calibri" panose="020F0502020204030204" pitchFamily="34" charset="0"/>
                <a:sym typeface="Glacial Indifference"/>
              </a:rPr>
              <a:t>Advertisement Strategy</a:t>
            </a:r>
          </a:p>
          <a:p>
            <a:pPr marL="728960" lvl="1" indent="-364480">
              <a:lnSpc>
                <a:spcPts val="4726"/>
              </a:lnSpc>
              <a:buFont typeface="Arial"/>
              <a:buChar char="•"/>
            </a:pPr>
            <a:r>
              <a:rPr lang="en-US" sz="2900" dirty="0">
                <a:latin typeface="Calibri" panose="020F0502020204030204" pitchFamily="34" charset="0"/>
                <a:ea typeface="Calibri" panose="020F0502020204030204" pitchFamily="34" charset="0"/>
                <a:cs typeface="Calibri" panose="020F0502020204030204" pitchFamily="34" charset="0"/>
                <a:sym typeface="Glacial Indifference"/>
              </a:rPr>
              <a:t>Campaigns and Projections</a:t>
            </a:r>
          </a:p>
          <a:p>
            <a:pPr marL="728960" lvl="1" indent="-364480">
              <a:lnSpc>
                <a:spcPts val="4726"/>
              </a:lnSpc>
              <a:buFont typeface="Arial"/>
              <a:buChar char="•"/>
            </a:pPr>
            <a:r>
              <a:rPr lang="en-US" sz="2900" dirty="0">
                <a:latin typeface="Calibri" panose="020F0502020204030204" pitchFamily="34" charset="0"/>
                <a:ea typeface="Calibri" panose="020F0502020204030204" pitchFamily="34" charset="0"/>
                <a:cs typeface="Calibri" panose="020F0502020204030204" pitchFamily="34" charset="0"/>
                <a:sym typeface="Glacial Indifference"/>
              </a:rPr>
              <a:t>Engagement Analysis</a:t>
            </a:r>
          </a:p>
          <a:p>
            <a:pPr marL="728960" lvl="1" indent="-364480">
              <a:lnSpc>
                <a:spcPts val="4726"/>
              </a:lnSpc>
              <a:buFont typeface="Arial"/>
              <a:buChar char="•"/>
            </a:pPr>
            <a:r>
              <a:rPr lang="en-US" sz="2900" dirty="0">
                <a:latin typeface="Calibri" panose="020F0502020204030204" pitchFamily="34" charset="0"/>
                <a:ea typeface="Calibri" panose="020F0502020204030204" pitchFamily="34" charset="0"/>
                <a:cs typeface="Calibri" panose="020F0502020204030204" pitchFamily="34" charset="0"/>
                <a:sym typeface="Glacial Indifference"/>
              </a:rPr>
              <a:t>Users Classification</a:t>
            </a:r>
          </a:p>
          <a:p>
            <a:pPr marL="728960" lvl="1" indent="-364480">
              <a:lnSpc>
                <a:spcPts val="4726"/>
              </a:lnSpc>
              <a:buFont typeface="Arial"/>
              <a:buChar char="•"/>
            </a:pPr>
            <a:r>
              <a:rPr lang="en-US" sz="2900" dirty="0">
                <a:latin typeface="Calibri" panose="020F0502020204030204" pitchFamily="34" charset="0"/>
                <a:ea typeface="Calibri" panose="020F0502020204030204" pitchFamily="34" charset="0"/>
                <a:cs typeface="Calibri" panose="020F0502020204030204" pitchFamily="34" charset="0"/>
                <a:sym typeface="Glacial Indifference"/>
              </a:rPr>
              <a:t>Conclusion</a:t>
            </a:r>
          </a:p>
          <a:p>
            <a:pPr algn="ctr">
              <a:lnSpc>
                <a:spcPts val="4726"/>
              </a:lnSpc>
            </a:pPr>
            <a:endParaRPr lang="en-US" sz="3200" dirty="0">
              <a:latin typeface="Calibri" panose="020F0502020204030204" pitchFamily="34" charset="0"/>
              <a:ea typeface="Calibri" panose="020F0502020204030204" pitchFamily="34" charset="0"/>
              <a:cs typeface="Calibri" panose="020F0502020204030204" pitchFamily="34" charset="0"/>
              <a:sym typeface="Glacial Indifference"/>
            </a:endParaRPr>
          </a:p>
        </p:txBody>
      </p:sp>
      <p:sp>
        <p:nvSpPr>
          <p:cNvPr id="7" name="Freeform 7">
            <a:extLst>
              <a:ext uri="{FF2B5EF4-FFF2-40B4-BE49-F238E27FC236}">
                <a16:creationId xmlns:a16="http://schemas.microsoft.com/office/drawing/2014/main" id="{C7E70736-BBAC-40D1-9D98-67983EEE65A0}"/>
              </a:ext>
            </a:extLst>
          </p:cNvPr>
          <p:cNvSpPr/>
          <p:nvPr/>
        </p:nvSpPr>
        <p:spPr>
          <a:xfrm>
            <a:off x="3048000" y="1943100"/>
            <a:ext cx="8158863" cy="6400800"/>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2">
              <a:alphaModFix amt="15000"/>
            </a:blip>
            <a:stretch>
              <a:fillRect t="-47301" b="-47301"/>
            </a:stretch>
          </a:blipFill>
        </p:spPr>
        <p:txBody>
          <a:bodyPr/>
          <a:lstStyle/>
          <a:p>
            <a:pPr>
              <a:lnSpc>
                <a:spcPct val="150000"/>
              </a:lnSpc>
            </a:pPr>
            <a:endParaRPr lang="en-US" dirty="0"/>
          </a:p>
        </p:txBody>
      </p:sp>
      <p:sp>
        <p:nvSpPr>
          <p:cNvPr id="3" name="Rectangle 2">
            <a:extLst>
              <a:ext uri="{FF2B5EF4-FFF2-40B4-BE49-F238E27FC236}">
                <a16:creationId xmlns:a16="http://schemas.microsoft.com/office/drawing/2014/main" id="{B0F629B5-4E99-4E7A-AF2E-B7EE8AAFA475}"/>
              </a:ext>
            </a:extLst>
          </p:cNvPr>
          <p:cNvSpPr/>
          <p:nvPr/>
        </p:nvSpPr>
        <p:spPr>
          <a:xfrm>
            <a:off x="5064568" y="0"/>
            <a:ext cx="8158863"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TABLE OF CONTENTS</a:t>
            </a:r>
          </a:p>
          <a:p>
            <a:pPr algn="ctr"/>
            <a:endParaRPr lang="en-US" sz="6000" dirty="0">
              <a:solidFill>
                <a:schemeClr val="tx1"/>
              </a:solidFill>
            </a:endParaRPr>
          </a:p>
        </p:txBody>
      </p:sp>
      <p:pic>
        <p:nvPicPr>
          <p:cNvPr id="11" name="Picture 10">
            <a:extLst>
              <a:ext uri="{FF2B5EF4-FFF2-40B4-BE49-F238E27FC236}">
                <a16:creationId xmlns:a16="http://schemas.microsoft.com/office/drawing/2014/main" id="{16675982-5595-4C4C-A5B9-A44862B867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1662" y="1943100"/>
            <a:ext cx="6776337" cy="6400800"/>
          </a:xfrm>
          <a:prstGeom prst="rect">
            <a:avLst/>
          </a:prstGeom>
        </p:spPr>
      </p:pic>
      <p:sp>
        <p:nvSpPr>
          <p:cNvPr id="14" name="Freeform 3">
            <a:extLst>
              <a:ext uri="{FF2B5EF4-FFF2-40B4-BE49-F238E27FC236}">
                <a16:creationId xmlns:a16="http://schemas.microsoft.com/office/drawing/2014/main" id="{A1A7A903-76EF-44CC-A631-E9BC1A9B0D30}"/>
              </a:ext>
            </a:extLst>
          </p:cNvPr>
          <p:cNvSpPr/>
          <p:nvPr/>
        </p:nvSpPr>
        <p:spPr>
          <a:xfrm>
            <a:off x="15773400" y="8343900"/>
            <a:ext cx="2514600" cy="19431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3124200" y="1943100"/>
            <a:ext cx="8082663" cy="5895973"/>
          </a:xfrm>
          <a:prstGeom prst="rect">
            <a:avLst/>
          </a:prstGeom>
        </p:spPr>
        <p:txBody>
          <a:bodyPr wrap="square" lIns="0" tIns="0" rIns="0" bIns="0" rtlCol="0" anchor="t">
            <a:spAutoFit/>
          </a:bodyPr>
          <a:lstStyle/>
          <a:p>
            <a:r>
              <a:rPr lang="en-US" sz="2900" dirty="0">
                <a:latin typeface="Calibri" panose="020F0502020204030204" pitchFamily="34" charset="0"/>
                <a:ea typeface="Calibri" panose="020F0502020204030204" pitchFamily="34" charset="0"/>
                <a:cs typeface="Calibri" panose="020F0502020204030204" pitchFamily="34" charset="0"/>
              </a:rPr>
              <a:t>Meta Platforms Inc. (formerly Facebook) is a leading technology company founded by </a:t>
            </a:r>
            <a:r>
              <a:rPr lang="en-US" sz="2900" b="1" dirty="0">
                <a:latin typeface="Calibri" panose="020F0502020204030204" pitchFamily="34" charset="0"/>
                <a:ea typeface="Calibri" panose="020F0502020204030204" pitchFamily="34" charset="0"/>
                <a:cs typeface="Calibri" panose="020F0502020204030204" pitchFamily="34" charset="0"/>
              </a:rPr>
              <a:t>Mark Zuckerberg </a:t>
            </a:r>
            <a:r>
              <a:rPr lang="en-US" sz="2900" dirty="0">
                <a:latin typeface="Calibri" panose="020F0502020204030204" pitchFamily="34" charset="0"/>
                <a:ea typeface="Calibri" panose="020F0502020204030204" pitchFamily="34" charset="0"/>
                <a:cs typeface="Calibri" panose="020F0502020204030204" pitchFamily="34" charset="0"/>
              </a:rPr>
              <a:t>in 2004. In October 2021, the company rebranded to Meta to reflect its vision of building the Metaverse - a digital environment where people can connect, work, and interact through immersive virtual experiences.</a:t>
            </a:r>
          </a:p>
          <a:p>
            <a:r>
              <a:rPr lang="en-US" sz="2900" dirty="0">
                <a:latin typeface="Calibri" panose="020F0502020204030204" pitchFamily="34" charset="0"/>
                <a:ea typeface="Calibri" panose="020F0502020204030204" pitchFamily="34" charset="0"/>
                <a:cs typeface="Calibri" panose="020F0502020204030204" pitchFamily="34" charset="0"/>
              </a:rPr>
              <a:t>Meta owns and operates some of the world's most popular social media platforms, including Facebook, Instagram, WhatsApp, and Messenger. Through its products and technologies, Meta aims to bring people together, foster online communities, and shape the future of digital communication.</a:t>
            </a:r>
          </a:p>
          <a:p>
            <a:pPr algn="l">
              <a:lnSpc>
                <a:spcPts val="4620"/>
              </a:lnSpc>
            </a:pPr>
            <a:endParaRPr lang="en-US" sz="2900"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p:txBody>
      </p:sp>
      <p:pic>
        <p:nvPicPr>
          <p:cNvPr id="17" name="Picture 16">
            <a:extLst>
              <a:ext uri="{FF2B5EF4-FFF2-40B4-BE49-F238E27FC236}">
                <a16:creationId xmlns:a16="http://schemas.microsoft.com/office/drawing/2014/main" id="{4D167D19-0CB8-417F-9752-FBB922FE70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34800" y="1943100"/>
            <a:ext cx="6553200" cy="8153400"/>
          </a:xfrm>
          <a:prstGeom prst="rect">
            <a:avLst/>
          </a:prstGeom>
        </p:spPr>
      </p:pic>
      <p:sp>
        <p:nvSpPr>
          <p:cNvPr id="6" name="Freeform 7">
            <a:extLst>
              <a:ext uri="{FF2B5EF4-FFF2-40B4-BE49-F238E27FC236}">
                <a16:creationId xmlns:a16="http://schemas.microsoft.com/office/drawing/2014/main" id="{C7C66862-04FC-4ADE-966B-D3C8ABBD8026}"/>
              </a:ext>
            </a:extLst>
          </p:cNvPr>
          <p:cNvSpPr/>
          <p:nvPr/>
        </p:nvSpPr>
        <p:spPr>
          <a:xfrm>
            <a:off x="3048000" y="1943100"/>
            <a:ext cx="8158863" cy="6400800"/>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4">
              <a:alphaModFix amt="15000"/>
            </a:blip>
            <a:stretch>
              <a:fillRect t="-47301" b="-47301"/>
            </a:stretch>
          </a:blipFill>
        </p:spPr>
        <p:txBody>
          <a:bodyPr/>
          <a:lstStyle/>
          <a:p>
            <a:pPr>
              <a:lnSpc>
                <a:spcPct val="150000"/>
              </a:lnSpc>
            </a:pPr>
            <a:endParaRPr lang="en-US" dirty="0"/>
          </a:p>
        </p:txBody>
      </p:sp>
      <p:sp>
        <p:nvSpPr>
          <p:cNvPr id="7" name="Rectangle 6">
            <a:extLst>
              <a:ext uri="{FF2B5EF4-FFF2-40B4-BE49-F238E27FC236}">
                <a16:creationId xmlns:a16="http://schemas.microsoft.com/office/drawing/2014/main" id="{6BE9CFA1-06A6-4858-8B72-6FB3500C1447}"/>
              </a:ext>
            </a:extLst>
          </p:cNvPr>
          <p:cNvSpPr/>
          <p:nvPr/>
        </p:nvSpPr>
        <p:spPr>
          <a:xfrm>
            <a:off x="5064568" y="-130628"/>
            <a:ext cx="8158863"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ABOUT META</a:t>
            </a:r>
          </a:p>
          <a:p>
            <a:pPr algn="ctr"/>
            <a:endParaRPr lang="en-US" sz="60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3254178" y="1941286"/>
            <a:ext cx="7746505" cy="4779514"/>
          </a:xfrm>
          <a:prstGeom prst="rect">
            <a:avLst/>
          </a:prstGeom>
        </p:spPr>
        <p:txBody>
          <a:bodyPr wrap="square" lIns="0" tIns="0" rIns="0" bIns="0" rtlCol="0" anchor="t">
            <a:spAutoFit/>
          </a:bodyPr>
          <a:lstStyle/>
          <a:p>
            <a:pPr>
              <a:lnSpc>
                <a:spcPts val="4716"/>
              </a:lnSpc>
            </a:pPr>
            <a:r>
              <a:rPr lang="en-US" sz="29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You are hired as a data analyst at Meta and asked to collaborate with the Marketing team. Marketing teams want to leverage Instagram's user data to develop targeted marketing strategies that will increase user engagement, retention, and acquisition. Provide insights and recommendations to address the following objectives</a:t>
            </a:r>
            <a:endParaRPr lang="en-US" sz="29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p:txBody>
      </p:sp>
      <p:sp>
        <p:nvSpPr>
          <p:cNvPr id="14" name="Freeform 3">
            <a:extLst>
              <a:ext uri="{FF2B5EF4-FFF2-40B4-BE49-F238E27FC236}">
                <a16:creationId xmlns:a16="http://schemas.microsoft.com/office/drawing/2014/main" id="{3D4B1002-B9CE-4D00-A2BA-6285ECC02EA3}"/>
              </a:ext>
            </a:extLst>
          </p:cNvPr>
          <p:cNvSpPr/>
          <p:nvPr/>
        </p:nvSpPr>
        <p:spPr>
          <a:xfrm>
            <a:off x="15392400" y="7886700"/>
            <a:ext cx="2895600" cy="24003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20" name="Picture 19">
            <a:extLst>
              <a:ext uri="{FF2B5EF4-FFF2-40B4-BE49-F238E27FC236}">
                <a16:creationId xmlns:a16="http://schemas.microsoft.com/office/drawing/2014/main" id="{4AA47F49-CDAF-48F6-AA7D-0FBEBB0D7F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4812" y="1943100"/>
            <a:ext cx="6853188" cy="6417127"/>
          </a:xfrm>
          <a:prstGeom prst="rect">
            <a:avLst/>
          </a:prstGeom>
        </p:spPr>
      </p:pic>
      <p:sp>
        <p:nvSpPr>
          <p:cNvPr id="7" name="Rectangle 6">
            <a:extLst>
              <a:ext uri="{FF2B5EF4-FFF2-40B4-BE49-F238E27FC236}">
                <a16:creationId xmlns:a16="http://schemas.microsoft.com/office/drawing/2014/main" id="{3D22FC70-F445-4F2D-A448-3FE931608F68}"/>
              </a:ext>
            </a:extLst>
          </p:cNvPr>
          <p:cNvSpPr/>
          <p:nvPr/>
        </p:nvSpPr>
        <p:spPr>
          <a:xfrm>
            <a:off x="5064568" y="0"/>
            <a:ext cx="8158863"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PROBLEM STATEMENT</a:t>
            </a:r>
          </a:p>
          <a:p>
            <a:pPr algn="ctr"/>
            <a:endParaRPr lang="en-US" sz="6000" dirty="0">
              <a:solidFill>
                <a:schemeClr val="tx1"/>
              </a:solidFill>
            </a:endParaRPr>
          </a:p>
        </p:txBody>
      </p:sp>
      <p:sp>
        <p:nvSpPr>
          <p:cNvPr id="8" name="Freeform 7">
            <a:extLst>
              <a:ext uri="{FF2B5EF4-FFF2-40B4-BE49-F238E27FC236}">
                <a16:creationId xmlns:a16="http://schemas.microsoft.com/office/drawing/2014/main" id="{397EE5B1-347F-4BCF-8767-F2CC0789781E}"/>
              </a:ext>
            </a:extLst>
          </p:cNvPr>
          <p:cNvSpPr/>
          <p:nvPr/>
        </p:nvSpPr>
        <p:spPr>
          <a:xfrm>
            <a:off x="3048000" y="1943100"/>
            <a:ext cx="8158863" cy="6400800"/>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5">
              <a:alphaModFix amt="15000"/>
            </a:blip>
            <a:stretch>
              <a:fillRect t="-47301" b="-47301"/>
            </a:stretch>
          </a:blipFill>
        </p:spPr>
        <p:txBody>
          <a:bodyPr/>
          <a:lstStyle/>
          <a:p>
            <a:pPr>
              <a:lnSpc>
                <a:spcPct val="150000"/>
              </a:lnSpc>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3080657" y="1943100"/>
            <a:ext cx="8100806" cy="8137196"/>
          </a:xfrm>
          <a:prstGeom prst="rect">
            <a:avLst/>
          </a:prstGeom>
        </p:spPr>
        <p:txBody>
          <a:bodyPr wrap="square" lIns="0" tIns="0" rIns="0" bIns="0" rtlCol="0" anchor="t">
            <a:spAutoFit/>
          </a:bodyPr>
          <a:lstStyle/>
          <a:p>
            <a:pPr marL="0" lvl="1">
              <a:lnSpc>
                <a:spcPct val="150000"/>
              </a:lnSpc>
              <a:spcAft>
                <a:spcPts val="125"/>
              </a:spcAft>
            </a:pPr>
            <a:r>
              <a:rPr lang="en-US" sz="2900"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A total of 7 Tables are present in the given dataset.</a:t>
            </a:r>
          </a:p>
          <a:p>
            <a:pPr marL="0" lvl="1">
              <a:lnSpc>
                <a:spcPct val="150000"/>
              </a:lnSpc>
              <a:spcAft>
                <a:spcPts val="125"/>
              </a:spcAft>
            </a:pPr>
            <a:r>
              <a:rPr lang="en-US" sz="2900"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The total number of users is 100.</a:t>
            </a:r>
          </a:p>
          <a:p>
            <a:pPr marL="0" lvl="1">
              <a:lnSpc>
                <a:spcPct val="150000"/>
              </a:lnSpc>
              <a:spcAft>
                <a:spcPts val="125"/>
              </a:spcAft>
            </a:pPr>
            <a:r>
              <a:rPr lang="en-US" sz="2900"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Total number of posts made so far is 257.</a:t>
            </a:r>
          </a:p>
          <a:p>
            <a:pPr marL="0" lvl="1">
              <a:lnSpc>
                <a:spcPct val="150000"/>
              </a:lnSpc>
              <a:spcAft>
                <a:spcPts val="125"/>
              </a:spcAft>
            </a:pPr>
            <a:r>
              <a:rPr lang="en-US" sz="2900"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Total number of likes posted by the users on posts is 8782.</a:t>
            </a:r>
          </a:p>
          <a:p>
            <a:pPr marL="0" lvl="1">
              <a:lnSpc>
                <a:spcPct val="150000"/>
              </a:lnSpc>
              <a:spcAft>
                <a:spcPts val="125"/>
              </a:spcAft>
            </a:pPr>
            <a:r>
              <a:rPr lang="en-US" sz="2900"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Total number of comments on all posts is 7488.</a:t>
            </a:r>
          </a:p>
          <a:p>
            <a:pPr marL="0" lvl="1">
              <a:lnSpc>
                <a:spcPct val="150000"/>
              </a:lnSpc>
              <a:spcAft>
                <a:spcPts val="125"/>
              </a:spcAft>
            </a:pPr>
            <a:r>
              <a:rPr lang="en-US" sz="2900" dirty="0">
                <a:latin typeface="Calibri" panose="020F0502020204030204" pitchFamily="34" charset="0"/>
                <a:ea typeface="Calibri" panose="020F0502020204030204" pitchFamily="34" charset="0"/>
                <a:cs typeface="Calibri" panose="020F0502020204030204" pitchFamily="34" charset="0"/>
              </a:rPr>
              <a:t>• Total Engagement is calculated as the sum of likes and comments received by a user.</a:t>
            </a:r>
          </a:p>
          <a:p>
            <a:pPr marL="0" lvl="1">
              <a:lnSpc>
                <a:spcPct val="150000"/>
              </a:lnSpc>
              <a:spcAft>
                <a:spcPts val="125"/>
              </a:spcAft>
            </a:pPr>
            <a:r>
              <a:rPr lang="en-US" sz="2900"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Engagement rate is calculated by dividing total engagements by the number of posts.</a:t>
            </a:r>
          </a:p>
          <a:p>
            <a:pPr>
              <a:lnSpc>
                <a:spcPct val="150000"/>
              </a:lnSpc>
              <a:spcAft>
                <a:spcPts val="125"/>
              </a:spcAft>
            </a:pPr>
            <a:endParaRPr lang="en-US" sz="2900"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nSpc>
                <a:spcPct val="150000"/>
              </a:lnSpc>
              <a:spcAft>
                <a:spcPts val="125"/>
              </a:spcAft>
            </a:pPr>
            <a:endParaRPr lang="en-US" sz="2900"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p:txBody>
      </p:sp>
      <p:pic>
        <p:nvPicPr>
          <p:cNvPr id="6" name="Picture 5">
            <a:extLst>
              <a:ext uri="{FF2B5EF4-FFF2-40B4-BE49-F238E27FC236}">
                <a16:creationId xmlns:a16="http://schemas.microsoft.com/office/drawing/2014/main" id="{62FE1280-52E5-4F98-9A6A-474EC67214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1663" y="1943100"/>
            <a:ext cx="6801737" cy="7620000"/>
          </a:xfrm>
          <a:prstGeom prst="rect">
            <a:avLst/>
          </a:prstGeom>
        </p:spPr>
      </p:pic>
      <p:sp>
        <p:nvSpPr>
          <p:cNvPr id="8" name="Rectangle 7">
            <a:extLst>
              <a:ext uri="{FF2B5EF4-FFF2-40B4-BE49-F238E27FC236}">
                <a16:creationId xmlns:a16="http://schemas.microsoft.com/office/drawing/2014/main" id="{479F09E3-44BB-421E-9B87-19917E41261D}"/>
              </a:ext>
            </a:extLst>
          </p:cNvPr>
          <p:cNvSpPr/>
          <p:nvPr/>
        </p:nvSpPr>
        <p:spPr>
          <a:xfrm>
            <a:off x="5064568" y="0"/>
            <a:ext cx="8158863"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DATA DESCRIPTION</a:t>
            </a:r>
          </a:p>
          <a:p>
            <a:pPr algn="ctr"/>
            <a:endParaRPr lang="en-US" sz="6000" dirty="0">
              <a:solidFill>
                <a:schemeClr val="tx1"/>
              </a:solidFill>
            </a:endParaRPr>
          </a:p>
        </p:txBody>
      </p:sp>
      <p:sp>
        <p:nvSpPr>
          <p:cNvPr id="9" name="Freeform 7">
            <a:extLst>
              <a:ext uri="{FF2B5EF4-FFF2-40B4-BE49-F238E27FC236}">
                <a16:creationId xmlns:a16="http://schemas.microsoft.com/office/drawing/2014/main" id="{4E11B2E0-AAD4-40C8-98B4-197234DBE8D5}"/>
              </a:ext>
            </a:extLst>
          </p:cNvPr>
          <p:cNvSpPr/>
          <p:nvPr/>
        </p:nvSpPr>
        <p:spPr>
          <a:xfrm>
            <a:off x="3048000" y="1943100"/>
            <a:ext cx="8158863" cy="6781800"/>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4">
              <a:alphaModFix amt="15000"/>
            </a:blip>
            <a:stretch>
              <a:fillRect t="-47301" b="-47301"/>
            </a:stretch>
          </a:blipFill>
        </p:spPr>
        <p:txBody>
          <a:bodyPr/>
          <a:lstStyle/>
          <a:p>
            <a:pPr>
              <a:lnSpc>
                <a:spcPct val="150000"/>
              </a:lnSpc>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3">
            <a:extLst>
              <a:ext uri="{FF2B5EF4-FFF2-40B4-BE49-F238E27FC236}">
                <a16:creationId xmlns:a16="http://schemas.microsoft.com/office/drawing/2014/main" id="{1681FFBD-FC6A-40AB-8F95-18238BC130EF}"/>
              </a:ext>
            </a:extLst>
          </p:cNvPr>
          <p:cNvSpPr/>
          <p:nvPr/>
        </p:nvSpPr>
        <p:spPr>
          <a:xfrm>
            <a:off x="15392400" y="7886700"/>
            <a:ext cx="2895600" cy="24003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3" name="Picture 2">
            <a:extLst>
              <a:ext uri="{FF2B5EF4-FFF2-40B4-BE49-F238E27FC236}">
                <a16:creationId xmlns:a16="http://schemas.microsoft.com/office/drawing/2014/main" id="{9216BFD1-5BDE-4623-8FBE-5256C781F4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2840" y="1485900"/>
            <a:ext cx="12862317" cy="7467600"/>
          </a:xfrm>
          <a:prstGeom prst="rect">
            <a:avLst/>
          </a:prstGeom>
        </p:spPr>
      </p:pic>
      <p:sp>
        <p:nvSpPr>
          <p:cNvPr id="12" name="Freeform 7">
            <a:extLst>
              <a:ext uri="{FF2B5EF4-FFF2-40B4-BE49-F238E27FC236}">
                <a16:creationId xmlns:a16="http://schemas.microsoft.com/office/drawing/2014/main" id="{E0C65875-905B-4DB0-AE40-54E40CF32D3B}"/>
              </a:ext>
            </a:extLst>
          </p:cNvPr>
          <p:cNvSpPr/>
          <p:nvPr/>
        </p:nvSpPr>
        <p:spPr>
          <a:xfrm>
            <a:off x="2966336" y="1943100"/>
            <a:ext cx="12355328" cy="6356958"/>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5">
              <a:alphaModFix amt="15000"/>
            </a:blip>
            <a:stretch>
              <a:fillRect t="-47301" b="-47301"/>
            </a:stretch>
          </a:blipFill>
        </p:spPr>
        <p:txBody>
          <a:bodyPr/>
          <a:lstStyle/>
          <a:p>
            <a:endParaRPr lang="en-US"/>
          </a:p>
        </p:txBody>
      </p:sp>
      <p:sp>
        <p:nvSpPr>
          <p:cNvPr id="6" name="Rectangle 5">
            <a:extLst>
              <a:ext uri="{FF2B5EF4-FFF2-40B4-BE49-F238E27FC236}">
                <a16:creationId xmlns:a16="http://schemas.microsoft.com/office/drawing/2014/main" id="{3AC38D65-34B7-416E-A391-FF252FB777A5}"/>
              </a:ext>
            </a:extLst>
          </p:cNvPr>
          <p:cNvSpPr/>
          <p:nvPr/>
        </p:nvSpPr>
        <p:spPr>
          <a:xfrm>
            <a:off x="5064568" y="0"/>
            <a:ext cx="8158863"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DATABASE SCHEMA</a:t>
            </a:r>
          </a:p>
          <a:p>
            <a:pPr algn="ctr"/>
            <a:endParaRPr lang="en-US" sz="60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txBox="1"/>
          <p:nvPr/>
        </p:nvSpPr>
        <p:spPr>
          <a:xfrm>
            <a:off x="3093377" y="1943100"/>
            <a:ext cx="8077200" cy="3947363"/>
          </a:xfrm>
          <a:prstGeom prst="rect">
            <a:avLst/>
          </a:prstGeom>
        </p:spPr>
        <p:txBody>
          <a:bodyPr wrap="square" lIns="0" tIns="0" rIns="0" bIns="0" rtlCol="0" anchor="t">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#dreamy</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 the highest-performing hashtag.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#foodie</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ranks lowest among the top hashtags.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#beauty, #stunning, and #delicious</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generate similar engagement.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All top hashtags consistently attract user attention and engagement. </a:t>
            </a:r>
          </a:p>
        </p:txBody>
      </p:sp>
      <p:graphicFrame>
        <p:nvGraphicFramePr>
          <p:cNvPr id="23" name="Chart 22">
            <a:extLst>
              <a:ext uri="{FF2B5EF4-FFF2-40B4-BE49-F238E27FC236}">
                <a16:creationId xmlns:a16="http://schemas.microsoft.com/office/drawing/2014/main" id="{3393A527-C7D1-4E1B-AA71-94B51CB67FC8}"/>
              </a:ext>
            </a:extLst>
          </p:cNvPr>
          <p:cNvGraphicFramePr/>
          <p:nvPr>
            <p:extLst>
              <p:ext uri="{D42A27DB-BD31-4B8C-83A1-F6EECF244321}">
                <p14:modId xmlns:p14="http://schemas.microsoft.com/office/powerpoint/2010/main" val="431552115"/>
              </p:ext>
            </p:extLst>
          </p:nvPr>
        </p:nvGraphicFramePr>
        <p:xfrm>
          <a:off x="11353800" y="1943100"/>
          <a:ext cx="6711064" cy="6219472"/>
        </p:xfrm>
        <a:graphic>
          <a:graphicData uri="http://schemas.openxmlformats.org/drawingml/2006/chart">
            <c:chart xmlns:c="http://schemas.openxmlformats.org/drawingml/2006/chart" xmlns:r="http://schemas.openxmlformats.org/officeDocument/2006/relationships" r:id="rId2"/>
          </a:graphicData>
        </a:graphic>
      </p:graphicFrame>
      <p:sp>
        <p:nvSpPr>
          <p:cNvPr id="24" name="Freeform 3">
            <a:extLst>
              <a:ext uri="{FF2B5EF4-FFF2-40B4-BE49-F238E27FC236}">
                <a16:creationId xmlns:a16="http://schemas.microsoft.com/office/drawing/2014/main" id="{355107E8-BC1C-4E9C-AFFB-36B031D0B62B}"/>
              </a:ext>
            </a:extLst>
          </p:cNvPr>
          <p:cNvSpPr/>
          <p:nvPr/>
        </p:nvSpPr>
        <p:spPr>
          <a:xfrm>
            <a:off x="15392400" y="7886700"/>
            <a:ext cx="2895600" cy="24003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Rectangle 6">
            <a:extLst>
              <a:ext uri="{FF2B5EF4-FFF2-40B4-BE49-F238E27FC236}">
                <a16:creationId xmlns:a16="http://schemas.microsoft.com/office/drawing/2014/main" id="{B51D1E0B-39E2-4FCF-A179-D2873734B82E}"/>
              </a:ext>
            </a:extLst>
          </p:cNvPr>
          <p:cNvSpPr/>
          <p:nvPr/>
        </p:nvSpPr>
        <p:spPr>
          <a:xfrm>
            <a:off x="4322984" y="0"/>
            <a:ext cx="9642032"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CONTENT PERFORMANCE</a:t>
            </a:r>
          </a:p>
          <a:p>
            <a:pPr algn="ctr"/>
            <a:endParaRPr lang="en-US" sz="6000" dirty="0">
              <a:solidFill>
                <a:schemeClr val="tx1"/>
              </a:solidFill>
            </a:endParaRPr>
          </a:p>
        </p:txBody>
      </p:sp>
      <p:sp>
        <p:nvSpPr>
          <p:cNvPr id="8" name="Freeform 7">
            <a:extLst>
              <a:ext uri="{FF2B5EF4-FFF2-40B4-BE49-F238E27FC236}">
                <a16:creationId xmlns:a16="http://schemas.microsoft.com/office/drawing/2014/main" id="{8FADC5E0-5E8A-49B9-8A77-E86CD8E38646}"/>
              </a:ext>
            </a:extLst>
          </p:cNvPr>
          <p:cNvSpPr/>
          <p:nvPr/>
        </p:nvSpPr>
        <p:spPr>
          <a:xfrm>
            <a:off x="3048000" y="1943100"/>
            <a:ext cx="8158863" cy="6400800"/>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5">
              <a:alphaModFix amt="15000"/>
            </a:blip>
            <a:stretch>
              <a:fillRect t="-47301" b="-47301"/>
            </a:stretch>
          </a:blipFill>
        </p:spPr>
        <p:txBody>
          <a:bodyPr/>
          <a:lstStyle/>
          <a:p>
            <a:pPr>
              <a:lnSpc>
                <a:spcPct val="150000"/>
              </a:lnSpc>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txBox="1"/>
          <p:nvPr/>
        </p:nvSpPr>
        <p:spPr>
          <a:xfrm>
            <a:off x="3109912" y="1943100"/>
            <a:ext cx="8035038" cy="5355312"/>
          </a:xfrm>
          <a:prstGeom prst="rect">
            <a:avLst/>
          </a:prstGeom>
        </p:spPr>
        <p:txBody>
          <a:bodyPr wrap="square" lIns="0" tIns="0" rIns="0" bIns="0" rtlCol="0" anchor="t">
            <a:spAutoFit/>
          </a:bodyPr>
          <a:lstStyle/>
          <a:p>
            <a:pPr marL="0" marR="0" lvl="0" indent="0" algn="l" defTabSz="914400" rtl="0" eaLnBrk="0" fontAlgn="base" latinLnBrk="0" hangingPunct="0">
              <a:spcBef>
                <a:spcPct val="0"/>
              </a:spcBef>
              <a:spcAft>
                <a:spcPct val="0"/>
              </a:spcAft>
              <a:buClrTx/>
              <a:buSzTx/>
              <a:tabLst/>
            </a:pPr>
            <a:r>
              <a:rPr lang="en-US" altLang="en-US" sz="2900" dirty="0">
                <a:latin typeface="Calibri" panose="020F0502020204030204" pitchFamily="34" charset="0"/>
                <a:ea typeface="Calibri" panose="020F0502020204030204" pitchFamily="34" charset="0"/>
                <a:cs typeface="Calibri" panose="020F0502020204030204" pitchFamily="34" charset="0"/>
              </a:rPr>
              <a:t>• </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Target highly engaged users, as they are more likely to interact with ads and influence others. </a:t>
            </a:r>
          </a:p>
          <a:p>
            <a:pPr marL="0" marR="0" lvl="0" indent="0" algn="l" defTabSz="914400" rtl="0" eaLnBrk="0" fontAlgn="base" latinLnBrk="0" hangingPunct="0">
              <a:spcBef>
                <a:spcPct val="0"/>
              </a:spcBef>
              <a:spcAft>
                <a:spcPct val="0"/>
              </a:spcAft>
              <a:buClrTx/>
              <a:buSzTx/>
              <a:tabLst/>
            </a:pPr>
            <a:endPar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Use trending hashtags such as </a:t>
            </a: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#dreamy, #beauty, #stunning, and #delicious</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increase reach and visibility.</a:t>
            </a:r>
          </a:p>
          <a:p>
            <a:pPr marL="0" marR="0" lvl="0" indent="0" algn="l" defTabSz="914400" rtl="0" eaLnBrk="0" fontAlgn="base" latinLnBrk="0" hangingPunct="0">
              <a:spcBef>
                <a:spcPct val="0"/>
              </a:spcBef>
              <a:spcAft>
                <a:spcPct val="0"/>
              </a:spcAft>
              <a:buClrTx/>
              <a:buSzTx/>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algn="l" defTabSz="914400" rtl="0" eaLnBrk="0" fontAlgn="base" latinLnBrk="0" hangingPunct="0">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Deliver personalized ads based on user interests, activity, and content preferences.</a:t>
            </a:r>
          </a:p>
          <a:p>
            <a:pPr marL="0" marR="0" lvl="0" indent="0" algn="l" defTabSz="914400" rtl="0" eaLnBrk="0" fontAlgn="base" latinLnBrk="0" hangingPunct="0">
              <a:spcBef>
                <a:spcPct val="0"/>
              </a:spcBef>
              <a:spcAft>
                <a:spcPct val="0"/>
              </a:spcAft>
              <a:buClrTx/>
              <a:buSzTx/>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defTabSz="914400" rtl="0" eaLnBrk="0" fontAlgn="base" latinLnBrk="0" hangingPunct="0">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Focus on relevant content recommendations to improve engagement and conversion rates. </a:t>
            </a:r>
          </a:p>
        </p:txBody>
      </p:sp>
      <p:pic>
        <p:nvPicPr>
          <p:cNvPr id="21" name="Picture 20">
            <a:extLst>
              <a:ext uri="{FF2B5EF4-FFF2-40B4-BE49-F238E27FC236}">
                <a16:creationId xmlns:a16="http://schemas.microsoft.com/office/drawing/2014/main" id="{F15FAF69-CCD4-4CD5-B118-EEE19D7E19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1450" y="2095500"/>
            <a:ext cx="6686550" cy="7620000"/>
          </a:xfrm>
          <a:prstGeom prst="rect">
            <a:avLst/>
          </a:prstGeom>
        </p:spPr>
      </p:pic>
      <p:sp>
        <p:nvSpPr>
          <p:cNvPr id="2" name="Rectangle 1">
            <a:extLst>
              <a:ext uri="{FF2B5EF4-FFF2-40B4-BE49-F238E27FC236}">
                <a16:creationId xmlns:a16="http://schemas.microsoft.com/office/drawing/2014/main" id="{A4AD550E-6E28-4EAC-8E55-1083671922CA}"/>
              </a:ext>
            </a:extLst>
          </p:cNvPr>
          <p:cNvSpPr>
            <a:spLocks noChangeArrowheads="1"/>
          </p:cNvSpPr>
          <p:nvPr/>
        </p:nvSpPr>
        <p:spPr bwMode="auto">
          <a:xfrm>
            <a:off x="-304800" y="-473138"/>
            <a:ext cx="76200" cy="531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8E4ABDB9-2701-44BA-83EB-688FD5CDA96E}"/>
              </a:ext>
            </a:extLst>
          </p:cNvPr>
          <p:cNvSpPr/>
          <p:nvPr/>
        </p:nvSpPr>
        <p:spPr>
          <a:xfrm>
            <a:off x="4322984" y="0"/>
            <a:ext cx="9642032"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ADVERTISEMENT STRATEGY</a:t>
            </a:r>
          </a:p>
          <a:p>
            <a:pPr algn="ctr"/>
            <a:endParaRPr lang="en-US" sz="6000" dirty="0">
              <a:solidFill>
                <a:schemeClr val="tx1"/>
              </a:solidFill>
            </a:endParaRPr>
          </a:p>
        </p:txBody>
      </p:sp>
      <p:sp>
        <p:nvSpPr>
          <p:cNvPr id="10" name="Freeform 7">
            <a:extLst>
              <a:ext uri="{FF2B5EF4-FFF2-40B4-BE49-F238E27FC236}">
                <a16:creationId xmlns:a16="http://schemas.microsoft.com/office/drawing/2014/main" id="{0221A208-5912-40F5-A040-E1832FAD0161}"/>
              </a:ext>
            </a:extLst>
          </p:cNvPr>
          <p:cNvSpPr/>
          <p:nvPr/>
        </p:nvSpPr>
        <p:spPr>
          <a:xfrm>
            <a:off x="3048000" y="1943100"/>
            <a:ext cx="8158863" cy="6400800"/>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3">
              <a:alphaModFix amt="15000"/>
            </a:blip>
            <a:stretch>
              <a:fillRect t="-47301" b="-47301"/>
            </a:stretch>
          </a:blipFill>
        </p:spPr>
        <p:txBody>
          <a:bodyPr/>
          <a:lstStyle/>
          <a:p>
            <a:pPr>
              <a:lnSpc>
                <a:spcPct val="150000"/>
              </a:lnSpc>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3077029" y="1943100"/>
            <a:ext cx="8387463" cy="6756337"/>
          </a:xfrm>
          <a:prstGeom prst="rect">
            <a:avLst/>
          </a:prstGeom>
        </p:spPr>
        <p:txBody>
          <a:bodyPr wrap="square" lIns="0" tIns="0" rIns="0" bIns="0" rtlCol="0" anchor="t">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sz="2900" dirty="0">
                <a:latin typeface="Calibri" panose="020F0502020204030204" pitchFamily="34" charset="0"/>
                <a:ea typeface="Calibri" panose="020F0502020204030204" pitchFamily="34" charset="0"/>
                <a:cs typeface="Calibri" panose="020F0502020204030204" pitchFamily="34" charset="0"/>
              </a:rPr>
              <a:t>• </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Target users based on their interests and activity patterns.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Use personalized notifications and emails to boost engagement.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Partner with influencers and highly engaged users for promotions.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Leverage trending hashtags and popular content categories.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900" dirty="0">
                <a:latin typeface="Calibri" panose="020F0502020204030204" pitchFamily="34" charset="0"/>
                <a:ea typeface="Calibri" panose="020F0502020204030204" pitchFamily="34" charset="0"/>
                <a:cs typeface="Calibri" panose="020F0502020204030204" pitchFamily="34" charset="0"/>
              </a:rPr>
              <a:t> R</a:t>
            </a:r>
            <a:r>
              <a:rPr lang="en-US" sz="2900" dirty="0">
                <a:latin typeface="Calibri" panose="020F0502020204030204" pitchFamily="34" charset="0"/>
                <a:ea typeface="Calibri" panose="020F0502020204030204" pitchFamily="34" charset="0"/>
                <a:cs typeface="Calibri" panose="020F0502020204030204" pitchFamily="34" charset="0"/>
              </a:rPr>
              <a:t>eward users with high reach and engagement for sponsored campaigns.</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p:txBody>
      </p:sp>
      <p:pic>
        <p:nvPicPr>
          <p:cNvPr id="7" name="Picture 6">
            <a:extLst>
              <a:ext uri="{FF2B5EF4-FFF2-40B4-BE49-F238E27FC236}">
                <a16:creationId xmlns:a16="http://schemas.microsoft.com/office/drawing/2014/main" id="{2311C2AA-4430-40E7-A3D6-EFD552214D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58600" y="2095500"/>
            <a:ext cx="6629399" cy="7543800"/>
          </a:xfrm>
          <a:prstGeom prst="rect">
            <a:avLst/>
          </a:prstGeom>
        </p:spPr>
      </p:pic>
      <p:sp>
        <p:nvSpPr>
          <p:cNvPr id="6" name="Rectangle 5">
            <a:extLst>
              <a:ext uri="{FF2B5EF4-FFF2-40B4-BE49-F238E27FC236}">
                <a16:creationId xmlns:a16="http://schemas.microsoft.com/office/drawing/2014/main" id="{4AF977E6-2F11-4B3D-BC7E-4B16CEADA562}"/>
              </a:ext>
            </a:extLst>
          </p:cNvPr>
          <p:cNvSpPr/>
          <p:nvPr/>
        </p:nvSpPr>
        <p:spPr>
          <a:xfrm>
            <a:off x="2809192" y="0"/>
            <a:ext cx="12669616"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CAMPAIGN OPTIMIZATION STRATEGY</a:t>
            </a:r>
          </a:p>
          <a:p>
            <a:pPr algn="ctr"/>
            <a:endParaRPr lang="en-US" sz="6000" dirty="0">
              <a:solidFill>
                <a:schemeClr val="tx1"/>
              </a:solidFill>
            </a:endParaRPr>
          </a:p>
        </p:txBody>
      </p:sp>
      <p:sp>
        <p:nvSpPr>
          <p:cNvPr id="9" name="Freeform 7">
            <a:extLst>
              <a:ext uri="{FF2B5EF4-FFF2-40B4-BE49-F238E27FC236}">
                <a16:creationId xmlns:a16="http://schemas.microsoft.com/office/drawing/2014/main" id="{56FAF46D-0E5D-48D2-AE10-215ADB20E41C}"/>
              </a:ext>
            </a:extLst>
          </p:cNvPr>
          <p:cNvSpPr/>
          <p:nvPr/>
        </p:nvSpPr>
        <p:spPr>
          <a:xfrm>
            <a:off x="3048000" y="1943100"/>
            <a:ext cx="8158863" cy="6756336"/>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4">
              <a:alphaModFix amt="15000"/>
            </a:blip>
            <a:stretch>
              <a:fillRect t="-47301" b="-47301"/>
            </a:stretch>
          </a:blipFill>
        </p:spPr>
        <p:txBody>
          <a:bodyPr/>
          <a:lstStyle/>
          <a:p>
            <a:pPr>
              <a:lnSpc>
                <a:spcPct val="150000"/>
              </a:lnSpc>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3069771" y="1948542"/>
            <a:ext cx="7550270" cy="6625019"/>
          </a:xfrm>
          <a:prstGeom prst="rect">
            <a:avLst/>
          </a:prstGeom>
        </p:spPr>
        <p:txBody>
          <a:bodyPr lIns="0" tIns="0" rIns="0" bIns="0" rtlCol="0" anchor="t">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Keenan.Schamberger60</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recorded the highest engagement (</a:t>
            </a: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173</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among all users.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Rick29</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sz="29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Karley_Bosco</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showed strong engagement, each with </a:t>
            </a: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166 interactions</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top 10 users have engagement scores ranging from </a:t>
            </a: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159 to 173</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indicating consistently high activity.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These users contribute significantly to overall platform engagement through likes, comments, and interactions. </a:t>
            </a:r>
          </a:p>
        </p:txBody>
      </p:sp>
      <p:graphicFrame>
        <p:nvGraphicFramePr>
          <p:cNvPr id="15" name="Chart 14">
            <a:extLst>
              <a:ext uri="{FF2B5EF4-FFF2-40B4-BE49-F238E27FC236}">
                <a16:creationId xmlns:a16="http://schemas.microsoft.com/office/drawing/2014/main" id="{F3CEEB01-4D8F-78F9-BE58-8BB5E8F583FD}"/>
              </a:ext>
            </a:extLst>
          </p:cNvPr>
          <p:cNvGraphicFramePr/>
          <p:nvPr>
            <p:extLst>
              <p:ext uri="{D42A27DB-BD31-4B8C-83A1-F6EECF244321}">
                <p14:modId xmlns:p14="http://schemas.microsoft.com/office/powerpoint/2010/main" val="3018381072"/>
              </p:ext>
            </p:extLst>
          </p:nvPr>
        </p:nvGraphicFramePr>
        <p:xfrm>
          <a:off x="11506200" y="1943099"/>
          <a:ext cx="6629400" cy="6625019"/>
        </p:xfrm>
        <a:graphic>
          <a:graphicData uri="http://schemas.openxmlformats.org/drawingml/2006/chart">
            <c:chart xmlns:c="http://schemas.openxmlformats.org/drawingml/2006/chart" xmlns:r="http://schemas.openxmlformats.org/officeDocument/2006/relationships" r:id="rId2"/>
          </a:graphicData>
        </a:graphic>
      </p:graphicFrame>
      <p:sp>
        <p:nvSpPr>
          <p:cNvPr id="16" name="Freeform 3">
            <a:extLst>
              <a:ext uri="{FF2B5EF4-FFF2-40B4-BE49-F238E27FC236}">
                <a16:creationId xmlns:a16="http://schemas.microsoft.com/office/drawing/2014/main" id="{12B3D92D-9BC9-4F49-9FF7-5A9B6D965E28}"/>
              </a:ext>
            </a:extLst>
          </p:cNvPr>
          <p:cNvSpPr/>
          <p:nvPr/>
        </p:nvSpPr>
        <p:spPr>
          <a:xfrm>
            <a:off x="15392400" y="7886700"/>
            <a:ext cx="2895600" cy="24003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Rectangle 8">
            <a:extLst>
              <a:ext uri="{FF2B5EF4-FFF2-40B4-BE49-F238E27FC236}">
                <a16:creationId xmlns:a16="http://schemas.microsoft.com/office/drawing/2014/main" id="{8AC4DC74-7B37-45F8-BF71-9BA9FCC39229}"/>
              </a:ext>
            </a:extLst>
          </p:cNvPr>
          <p:cNvSpPr/>
          <p:nvPr/>
        </p:nvSpPr>
        <p:spPr>
          <a:xfrm>
            <a:off x="2809192" y="0"/>
            <a:ext cx="12669616"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TOP 10 USERS BY TOTAL ENGAGEMENT</a:t>
            </a:r>
          </a:p>
          <a:p>
            <a:pPr algn="ctr"/>
            <a:endParaRPr lang="en-US" sz="6000" dirty="0">
              <a:solidFill>
                <a:schemeClr val="tx1"/>
              </a:solidFill>
            </a:endParaRPr>
          </a:p>
        </p:txBody>
      </p:sp>
      <p:sp>
        <p:nvSpPr>
          <p:cNvPr id="11" name="Freeform 7">
            <a:extLst>
              <a:ext uri="{FF2B5EF4-FFF2-40B4-BE49-F238E27FC236}">
                <a16:creationId xmlns:a16="http://schemas.microsoft.com/office/drawing/2014/main" id="{8FF44283-A085-4E0A-AE20-85897E3FDDDE}"/>
              </a:ext>
            </a:extLst>
          </p:cNvPr>
          <p:cNvSpPr/>
          <p:nvPr/>
        </p:nvSpPr>
        <p:spPr>
          <a:xfrm>
            <a:off x="3048000" y="1943099"/>
            <a:ext cx="8158863" cy="6625019"/>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5">
              <a:alphaModFix amt="15000"/>
            </a:blip>
            <a:stretch>
              <a:fillRect t="-47301" b="-47301"/>
            </a:stretch>
          </a:blipFill>
        </p:spPr>
        <p:txBody>
          <a:body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3058886" y="1943098"/>
            <a:ext cx="7550270" cy="6694140"/>
          </a:xfrm>
          <a:prstGeom prst="rect">
            <a:avLst/>
          </a:prstGeom>
        </p:spPr>
        <p:txBody>
          <a:bodyPr lIns="0" tIns="0" rIns="0" bIns="0" rtlCol="0" anchor="t">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Comments dominate</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nearly all users, total comments are consistently higher than likes and photo tags.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Likes vs tags</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Likes generally outnumber photo tags, showing stronger interaction through reactions than tagging.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Top performers</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Users like </a:t>
            </a:r>
            <a:r>
              <a:rPr kumimoji="0" lang="en-US" altLang="en-US" sz="29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Justina.Gaylord27</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900" b="0" i="1"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Kenton_Kirlin</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sz="2900" b="0" i="1"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Travon.Waters</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show the highest overall engagement.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Inactive accounts</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900" b="0" i="1"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Aniya_Hackett</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sz="2900" b="0" i="1"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Kasandra_Homenick</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have zero engagement across all metrics.</a:t>
            </a:r>
          </a:p>
        </p:txBody>
      </p:sp>
      <p:sp>
        <p:nvSpPr>
          <p:cNvPr id="16" name="Freeform 3">
            <a:extLst>
              <a:ext uri="{FF2B5EF4-FFF2-40B4-BE49-F238E27FC236}">
                <a16:creationId xmlns:a16="http://schemas.microsoft.com/office/drawing/2014/main" id="{12B3D92D-9BC9-4F49-9FF7-5A9B6D965E28}"/>
              </a:ext>
            </a:extLst>
          </p:cNvPr>
          <p:cNvSpPr/>
          <p:nvPr/>
        </p:nvSpPr>
        <p:spPr>
          <a:xfrm>
            <a:off x="15392400" y="7886700"/>
            <a:ext cx="2895600" cy="24003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aphicFrame>
        <p:nvGraphicFramePr>
          <p:cNvPr id="11" name="Chart 10">
            <a:extLst>
              <a:ext uri="{FF2B5EF4-FFF2-40B4-BE49-F238E27FC236}">
                <a16:creationId xmlns:a16="http://schemas.microsoft.com/office/drawing/2014/main" id="{BA0AAE03-2103-4964-8C61-E41989D7E83D}"/>
              </a:ext>
            </a:extLst>
          </p:cNvPr>
          <p:cNvGraphicFramePr/>
          <p:nvPr>
            <p:extLst>
              <p:ext uri="{D42A27DB-BD31-4B8C-83A1-F6EECF244321}">
                <p14:modId xmlns:p14="http://schemas.microsoft.com/office/powerpoint/2010/main" val="1069388900"/>
              </p:ext>
            </p:extLst>
          </p:nvPr>
        </p:nvGraphicFramePr>
        <p:xfrm>
          <a:off x="11206863" y="1943098"/>
          <a:ext cx="6928737" cy="6324601"/>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9848DB5B-751E-4F8B-890C-53D3D16930DF}"/>
              </a:ext>
            </a:extLst>
          </p:cNvPr>
          <p:cNvSpPr/>
          <p:nvPr/>
        </p:nvSpPr>
        <p:spPr>
          <a:xfrm>
            <a:off x="4322984" y="0"/>
            <a:ext cx="9642032"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USER ENGAGEMENT METRICS</a:t>
            </a:r>
          </a:p>
          <a:p>
            <a:pPr algn="ctr"/>
            <a:endParaRPr lang="en-US" sz="6000" dirty="0">
              <a:solidFill>
                <a:schemeClr val="tx1"/>
              </a:solidFill>
            </a:endParaRPr>
          </a:p>
        </p:txBody>
      </p:sp>
      <p:sp>
        <p:nvSpPr>
          <p:cNvPr id="13" name="Freeform 7">
            <a:extLst>
              <a:ext uri="{FF2B5EF4-FFF2-40B4-BE49-F238E27FC236}">
                <a16:creationId xmlns:a16="http://schemas.microsoft.com/office/drawing/2014/main" id="{7EDF9454-C621-4092-B6F4-AD1A690C7638}"/>
              </a:ext>
            </a:extLst>
          </p:cNvPr>
          <p:cNvSpPr/>
          <p:nvPr/>
        </p:nvSpPr>
        <p:spPr>
          <a:xfrm>
            <a:off x="3048000" y="1943100"/>
            <a:ext cx="8158863" cy="6694138"/>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5">
              <a:alphaModFix amt="15000"/>
            </a:blip>
            <a:stretch>
              <a:fillRect t="-47301" b="-47301"/>
            </a:stretch>
          </a:blipFill>
        </p:spPr>
        <p:txBody>
          <a:bodyPr/>
          <a:lstStyle/>
          <a:p>
            <a:pPr>
              <a:lnSpc>
                <a:spcPct val="150000"/>
              </a:lnSpc>
            </a:pPr>
            <a:endParaRPr lang="en-US" dirty="0"/>
          </a:p>
        </p:txBody>
      </p:sp>
    </p:spTree>
    <p:extLst>
      <p:ext uri="{BB962C8B-B14F-4D97-AF65-F5344CB8AC3E}">
        <p14:creationId xmlns:p14="http://schemas.microsoft.com/office/powerpoint/2010/main" val="42507018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1"/>
          <p:cNvSpPr txBox="1"/>
          <p:nvPr/>
        </p:nvSpPr>
        <p:spPr>
          <a:xfrm>
            <a:off x="3073400" y="1931095"/>
            <a:ext cx="8133463" cy="5955605"/>
          </a:xfrm>
          <a:prstGeom prst="rect">
            <a:avLst/>
          </a:prstGeom>
        </p:spPr>
        <p:txBody>
          <a:bodyPr wrap="square" lIns="0" tIns="0" rIns="0" bIns="0" rtlCol="0" anchor="t">
            <a:spAutoFit/>
          </a:bodyPr>
          <a:lstStyle/>
          <a:p>
            <a:pPr marL="514350" indent="-514350">
              <a:lnSpc>
                <a:spcPct val="150000"/>
              </a:lnSpc>
              <a:buAutoNum type="arabicPeriod"/>
            </a:pPr>
            <a:r>
              <a:rPr lang="en-US" sz="2900" b="1" dirty="0">
                <a:latin typeface="Calibri" panose="020F0502020204030204" pitchFamily="34" charset="0"/>
                <a:ea typeface="Calibri" panose="020F0502020204030204" pitchFamily="34" charset="0"/>
                <a:cs typeface="Calibri" panose="020F0502020204030204" pitchFamily="34" charset="0"/>
              </a:rPr>
              <a:t>Low Activity Users</a:t>
            </a:r>
            <a:endParaRPr lang="en-US" sz="29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Font typeface="Arial" panose="020B0604020202020204" pitchFamily="34" charset="0"/>
              <a:buChar char="•"/>
            </a:pPr>
            <a:r>
              <a:rPr lang="en-US" sz="2900" dirty="0">
                <a:latin typeface="Calibri" panose="020F0502020204030204" pitchFamily="34" charset="0"/>
                <a:ea typeface="Calibri" panose="020F0502020204030204" pitchFamily="34" charset="0"/>
                <a:cs typeface="Calibri" panose="020F0502020204030204" pitchFamily="34" charset="0"/>
              </a:rPr>
              <a:t> Limited platform interaction </a:t>
            </a:r>
          </a:p>
          <a:p>
            <a:pPr>
              <a:lnSpc>
                <a:spcPct val="150000"/>
              </a:lnSpc>
              <a:buFont typeface="Arial" panose="020B0604020202020204" pitchFamily="34" charset="0"/>
              <a:buChar char="•"/>
            </a:pPr>
            <a:r>
              <a:rPr lang="en-US" sz="2900" dirty="0">
                <a:latin typeface="Calibri" panose="020F0502020204030204" pitchFamily="34" charset="0"/>
                <a:ea typeface="Calibri" panose="020F0502020204030204" pitchFamily="34" charset="0"/>
                <a:cs typeface="Calibri" panose="020F0502020204030204" pitchFamily="34" charset="0"/>
              </a:rPr>
              <a:t> Potential users for engagement campaigns </a:t>
            </a:r>
          </a:p>
          <a:p>
            <a:pPr>
              <a:lnSpc>
                <a:spcPct val="150000"/>
              </a:lnSpc>
            </a:pPr>
            <a:r>
              <a:rPr lang="en-US" sz="2900" dirty="0">
                <a:latin typeface="Calibri" panose="020F0502020204030204" pitchFamily="34" charset="0"/>
                <a:ea typeface="Calibri" panose="020F0502020204030204" pitchFamily="34" charset="0"/>
                <a:cs typeface="Calibri" panose="020F0502020204030204" pitchFamily="34" charset="0"/>
              </a:rPr>
              <a:t> </a:t>
            </a:r>
            <a:r>
              <a:rPr lang="en-US" sz="2900" b="1" dirty="0">
                <a:latin typeface="Calibri" panose="020F0502020204030204" pitchFamily="34" charset="0"/>
                <a:ea typeface="Calibri" panose="020F0502020204030204" pitchFamily="34" charset="0"/>
                <a:cs typeface="Calibri" panose="020F0502020204030204" pitchFamily="34" charset="0"/>
              </a:rPr>
              <a:t>2</a:t>
            </a:r>
            <a:r>
              <a:rPr lang="en-US" sz="2900" dirty="0">
                <a:latin typeface="Calibri" panose="020F0502020204030204" pitchFamily="34" charset="0"/>
                <a:ea typeface="Calibri" panose="020F0502020204030204" pitchFamily="34" charset="0"/>
                <a:cs typeface="Calibri" panose="020F0502020204030204" pitchFamily="34" charset="0"/>
              </a:rPr>
              <a:t>. </a:t>
            </a:r>
            <a:r>
              <a:rPr lang="en-US" sz="2900" b="1" dirty="0">
                <a:latin typeface="Calibri" panose="020F0502020204030204" pitchFamily="34" charset="0"/>
                <a:ea typeface="Calibri" panose="020F0502020204030204" pitchFamily="34" charset="0"/>
                <a:cs typeface="Calibri" panose="020F0502020204030204" pitchFamily="34" charset="0"/>
              </a:rPr>
              <a:t>Moderately Active Users</a:t>
            </a:r>
            <a:endParaRPr lang="en-US" sz="29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Font typeface="Arial" panose="020B0604020202020204" pitchFamily="34" charset="0"/>
              <a:buChar char="•"/>
            </a:pPr>
            <a:r>
              <a:rPr lang="en-US" sz="2900" dirty="0">
                <a:latin typeface="Calibri" panose="020F0502020204030204" pitchFamily="34" charset="0"/>
                <a:ea typeface="Calibri" panose="020F0502020204030204" pitchFamily="34" charset="0"/>
                <a:cs typeface="Calibri" panose="020F0502020204030204" pitchFamily="34" charset="0"/>
              </a:rPr>
              <a:t> Regular participation through posts and interactions </a:t>
            </a:r>
          </a:p>
          <a:p>
            <a:pPr>
              <a:lnSpc>
                <a:spcPct val="150000"/>
              </a:lnSpc>
              <a:buFont typeface="Arial" panose="020B0604020202020204" pitchFamily="34" charset="0"/>
              <a:buChar char="•"/>
            </a:pPr>
            <a:r>
              <a:rPr lang="en-US" sz="2900" dirty="0">
                <a:latin typeface="Calibri" panose="020F0502020204030204" pitchFamily="34" charset="0"/>
                <a:ea typeface="Calibri" panose="020F0502020204030204" pitchFamily="34" charset="0"/>
                <a:cs typeface="Calibri" panose="020F0502020204030204" pitchFamily="34" charset="0"/>
              </a:rPr>
              <a:t> Opportunity to increase engagement further </a:t>
            </a:r>
          </a:p>
          <a:p>
            <a:pPr>
              <a:lnSpc>
                <a:spcPct val="150000"/>
              </a:lnSpc>
            </a:pPr>
            <a:r>
              <a:rPr lang="en-US" sz="2900" b="1" dirty="0">
                <a:latin typeface="Calibri" panose="020F0502020204030204" pitchFamily="34" charset="0"/>
                <a:ea typeface="Calibri" panose="020F0502020204030204" pitchFamily="34" charset="0"/>
                <a:cs typeface="Calibri" panose="020F0502020204030204" pitchFamily="34" charset="0"/>
              </a:rPr>
              <a:t>3. Highly Active Users</a:t>
            </a:r>
            <a:endParaRPr lang="en-US" sz="29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Font typeface="Arial" panose="020B0604020202020204" pitchFamily="34" charset="0"/>
              <a:buChar char="•"/>
            </a:pPr>
            <a:r>
              <a:rPr lang="en-US" sz="2900" dirty="0">
                <a:latin typeface="Calibri" panose="020F0502020204030204" pitchFamily="34" charset="0"/>
                <a:ea typeface="Calibri" panose="020F0502020204030204" pitchFamily="34" charset="0"/>
                <a:cs typeface="Calibri" panose="020F0502020204030204" pitchFamily="34" charset="0"/>
              </a:rPr>
              <a:t> Frequent posts, likes, and comments </a:t>
            </a:r>
          </a:p>
          <a:p>
            <a:pPr>
              <a:lnSpc>
                <a:spcPct val="150000"/>
              </a:lnSpc>
              <a:buFont typeface="Arial" panose="020B0604020202020204" pitchFamily="34" charset="0"/>
              <a:buChar char="•"/>
            </a:pPr>
            <a:r>
              <a:rPr lang="en-US" sz="2900" dirty="0">
                <a:latin typeface="Calibri" panose="020F0502020204030204" pitchFamily="34" charset="0"/>
                <a:ea typeface="Calibri" panose="020F0502020204030204" pitchFamily="34" charset="0"/>
                <a:cs typeface="Calibri" panose="020F0502020204030204" pitchFamily="34" charset="0"/>
              </a:rPr>
              <a:t> Most valuable and loyal users </a:t>
            </a:r>
          </a:p>
        </p:txBody>
      </p:sp>
      <p:graphicFrame>
        <p:nvGraphicFramePr>
          <p:cNvPr id="6" name="Chart 5">
            <a:extLst>
              <a:ext uri="{FF2B5EF4-FFF2-40B4-BE49-F238E27FC236}">
                <a16:creationId xmlns:a16="http://schemas.microsoft.com/office/drawing/2014/main" id="{232CA0E4-08D7-49B2-A429-F89D02CFE2FC}"/>
              </a:ext>
            </a:extLst>
          </p:cNvPr>
          <p:cNvGraphicFramePr/>
          <p:nvPr>
            <p:extLst>
              <p:ext uri="{D42A27DB-BD31-4B8C-83A1-F6EECF244321}">
                <p14:modId xmlns:p14="http://schemas.microsoft.com/office/powerpoint/2010/main" val="3270465155"/>
              </p:ext>
            </p:extLst>
          </p:nvPr>
        </p:nvGraphicFramePr>
        <p:xfrm>
          <a:off x="11734800" y="1943099"/>
          <a:ext cx="6324600" cy="6096001"/>
        </p:xfrm>
        <a:graphic>
          <a:graphicData uri="http://schemas.openxmlformats.org/drawingml/2006/chart">
            <c:chart xmlns:c="http://schemas.openxmlformats.org/drawingml/2006/chart" xmlns:r="http://schemas.openxmlformats.org/officeDocument/2006/relationships" r:id="rId2"/>
          </a:graphicData>
        </a:graphic>
      </p:graphicFrame>
      <p:sp>
        <p:nvSpPr>
          <p:cNvPr id="7" name="Freeform 3">
            <a:extLst>
              <a:ext uri="{FF2B5EF4-FFF2-40B4-BE49-F238E27FC236}">
                <a16:creationId xmlns:a16="http://schemas.microsoft.com/office/drawing/2014/main" id="{F66B8D0F-19AF-4167-AAA7-CF2167C92C44}"/>
              </a:ext>
            </a:extLst>
          </p:cNvPr>
          <p:cNvSpPr/>
          <p:nvPr/>
        </p:nvSpPr>
        <p:spPr>
          <a:xfrm>
            <a:off x="15392400" y="7886700"/>
            <a:ext cx="2895600" cy="24003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Rectangle 7">
            <a:extLst>
              <a:ext uri="{FF2B5EF4-FFF2-40B4-BE49-F238E27FC236}">
                <a16:creationId xmlns:a16="http://schemas.microsoft.com/office/drawing/2014/main" id="{820CFBCD-0B35-411B-825B-BF51DC3896DB}"/>
              </a:ext>
            </a:extLst>
          </p:cNvPr>
          <p:cNvSpPr/>
          <p:nvPr/>
        </p:nvSpPr>
        <p:spPr>
          <a:xfrm>
            <a:off x="4322984" y="0"/>
            <a:ext cx="9642032"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USER ACTIVITY ANALYSIS</a:t>
            </a:r>
          </a:p>
          <a:p>
            <a:pPr algn="ctr"/>
            <a:endParaRPr lang="en-US" sz="6000" dirty="0">
              <a:solidFill>
                <a:schemeClr val="tx1"/>
              </a:solidFill>
            </a:endParaRPr>
          </a:p>
        </p:txBody>
      </p:sp>
      <p:sp>
        <p:nvSpPr>
          <p:cNvPr id="13" name="Freeform 7">
            <a:extLst>
              <a:ext uri="{FF2B5EF4-FFF2-40B4-BE49-F238E27FC236}">
                <a16:creationId xmlns:a16="http://schemas.microsoft.com/office/drawing/2014/main" id="{392059E3-3AE9-4DF8-BA07-E4083C39E344}"/>
              </a:ext>
            </a:extLst>
          </p:cNvPr>
          <p:cNvSpPr/>
          <p:nvPr/>
        </p:nvSpPr>
        <p:spPr>
          <a:xfrm>
            <a:off x="3048000" y="1943100"/>
            <a:ext cx="8158863" cy="6400800"/>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5">
              <a:alphaModFix amt="15000"/>
            </a:blip>
            <a:stretch>
              <a:fillRect t="-47301" b="-47301"/>
            </a:stretch>
          </a:blipFill>
        </p:spPr>
        <p:txBody>
          <a:bodyPr/>
          <a:lstStyle/>
          <a:p>
            <a:pPr>
              <a:lnSpc>
                <a:spcPct val="150000"/>
              </a:lnSpc>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BAF3B-AA2B-69A3-BC05-1FC0F5A58DBF}"/>
            </a:ext>
          </a:extLst>
        </p:cNvPr>
        <p:cNvGrpSpPr/>
        <p:nvPr/>
      </p:nvGrpSpPr>
      <p:grpSpPr>
        <a:xfrm>
          <a:off x="0" y="0"/>
          <a:ext cx="0" cy="0"/>
          <a:chOff x="0" y="0"/>
          <a:chExt cx="0" cy="0"/>
        </a:xfrm>
      </p:grpSpPr>
      <p:sp>
        <p:nvSpPr>
          <p:cNvPr id="7" name="Rectangle 2">
            <a:extLst>
              <a:ext uri="{FF2B5EF4-FFF2-40B4-BE49-F238E27FC236}">
                <a16:creationId xmlns:a16="http://schemas.microsoft.com/office/drawing/2014/main" id="{E52538D7-F8F7-63D8-E6CF-4D8C5753F914}"/>
              </a:ext>
            </a:extLst>
          </p:cNvPr>
          <p:cNvSpPr>
            <a:spLocks noChangeArrowheads="1"/>
          </p:cNvSpPr>
          <p:nvPr/>
        </p:nvSpPr>
        <p:spPr bwMode="auto">
          <a:xfrm>
            <a:off x="3048000" y="2003703"/>
            <a:ext cx="8158863" cy="634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tabLst/>
            </a:pPr>
            <a:r>
              <a:rPr lang="en-US" altLang="en-US" sz="2900" dirty="0">
                <a:latin typeface="Calibri" panose="020F0502020204030204" pitchFamily="34" charset="0"/>
                <a:ea typeface="Calibri" panose="020F0502020204030204" pitchFamily="34" charset="0"/>
                <a:cs typeface="Calibri" panose="020F0502020204030204" pitchFamily="34" charset="0"/>
              </a:rPr>
              <a:t>• </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Re-engage inactive users through personalized notifications and special incentives.</a:t>
            </a:r>
          </a:p>
          <a:p>
            <a:pPr marL="0" marR="0" lvl="0" indent="0" algn="l" defTabSz="914400" rtl="0" eaLnBrk="0" fontAlgn="base" latinLnBrk="0" hangingPunct="0">
              <a:spcBef>
                <a:spcPct val="0"/>
              </a:spcBef>
              <a:spcAft>
                <a:spcPct val="0"/>
              </a:spcAft>
              <a:buClrTx/>
              <a:buSzTx/>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algn="l" defTabSz="914400" rtl="0" eaLnBrk="0" fontAlgn="base" latinLnBrk="0" hangingPunct="0">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Promote trending hashtags and post content during peak engagement hours. </a:t>
            </a:r>
          </a:p>
          <a:p>
            <a:pPr marL="0" marR="0" lvl="0" indent="0" algn="l" defTabSz="914400" rtl="0" eaLnBrk="0" fontAlgn="base" latinLnBrk="0" hangingPunct="0">
              <a:spcBef>
                <a:spcPct val="0"/>
              </a:spcBef>
              <a:spcAft>
                <a:spcPct val="0"/>
              </a:spcAft>
              <a:buClrTx/>
              <a:buSzTx/>
              <a:tabLst/>
            </a:pPr>
            <a:endPar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Segment users by activity level and run targeted marketing campaigns. </a:t>
            </a:r>
          </a:p>
          <a:p>
            <a:pPr marL="0" marR="0" lvl="0" indent="0" algn="l" defTabSz="914400" rtl="0" eaLnBrk="0" fontAlgn="base" latinLnBrk="0" hangingPunct="0">
              <a:spcBef>
                <a:spcPct val="0"/>
              </a:spcBef>
              <a:spcAft>
                <a:spcPct val="0"/>
              </a:spcAft>
              <a:buClrTx/>
              <a:buSzTx/>
              <a:tabLst/>
            </a:pPr>
            <a:endPar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Reward loyal users with badges, exclusive offers, and early access benefits. </a:t>
            </a:r>
          </a:p>
          <a:p>
            <a:pPr marL="0" marR="0" lvl="0" indent="0" algn="l" defTabSz="914400" rtl="0" eaLnBrk="0" fontAlgn="base" latinLnBrk="0" hangingPunct="0">
              <a:spcBef>
                <a:spcPct val="0"/>
              </a:spcBef>
              <a:spcAft>
                <a:spcPct val="0"/>
              </a:spcAft>
              <a:buClrTx/>
              <a:buSzTx/>
              <a:tabLst/>
            </a:pPr>
            <a:endPar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Continuously track engagement trends and optimize campaigns accordingly. </a:t>
            </a:r>
          </a:p>
        </p:txBody>
      </p:sp>
      <p:pic>
        <p:nvPicPr>
          <p:cNvPr id="17" name="Picture 16">
            <a:extLst>
              <a:ext uri="{FF2B5EF4-FFF2-40B4-BE49-F238E27FC236}">
                <a16:creationId xmlns:a16="http://schemas.microsoft.com/office/drawing/2014/main" id="{33E3F505-DAED-46F9-8BEA-972F743432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2400" y="1943099"/>
            <a:ext cx="6705600" cy="7952015"/>
          </a:xfrm>
          <a:prstGeom prst="rect">
            <a:avLst/>
          </a:prstGeom>
        </p:spPr>
      </p:pic>
      <p:sp>
        <p:nvSpPr>
          <p:cNvPr id="6" name="Rectangle 5">
            <a:extLst>
              <a:ext uri="{FF2B5EF4-FFF2-40B4-BE49-F238E27FC236}">
                <a16:creationId xmlns:a16="http://schemas.microsoft.com/office/drawing/2014/main" id="{4B202D47-3192-4E38-9DF5-D0924A0EC935}"/>
              </a:ext>
            </a:extLst>
          </p:cNvPr>
          <p:cNvSpPr/>
          <p:nvPr/>
        </p:nvSpPr>
        <p:spPr>
          <a:xfrm>
            <a:off x="5064568" y="0"/>
            <a:ext cx="8158863"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RECOMMENDATIONS</a:t>
            </a:r>
          </a:p>
          <a:p>
            <a:pPr algn="ctr"/>
            <a:endParaRPr lang="en-US" sz="6000" dirty="0">
              <a:solidFill>
                <a:schemeClr val="tx1"/>
              </a:solidFill>
            </a:endParaRPr>
          </a:p>
        </p:txBody>
      </p:sp>
      <p:sp>
        <p:nvSpPr>
          <p:cNvPr id="12" name="Freeform 7">
            <a:extLst>
              <a:ext uri="{FF2B5EF4-FFF2-40B4-BE49-F238E27FC236}">
                <a16:creationId xmlns:a16="http://schemas.microsoft.com/office/drawing/2014/main" id="{0900AE35-8555-4D5C-944C-6650A65A01E1}"/>
              </a:ext>
            </a:extLst>
          </p:cNvPr>
          <p:cNvSpPr/>
          <p:nvPr/>
        </p:nvSpPr>
        <p:spPr>
          <a:xfrm>
            <a:off x="3048000" y="1943100"/>
            <a:ext cx="8158863" cy="6400800"/>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3">
              <a:alphaModFix amt="15000"/>
            </a:blip>
            <a:stretch>
              <a:fillRect t="-47301" b="-47301"/>
            </a:stretch>
          </a:blipFill>
        </p:spPr>
        <p:txBody>
          <a:bodyPr/>
          <a:lstStyle/>
          <a:p>
            <a:pPr>
              <a:lnSpc>
                <a:spcPct val="150000"/>
              </a:lnSpc>
            </a:pPr>
            <a:endParaRPr lang="en-US" dirty="0"/>
          </a:p>
        </p:txBody>
      </p:sp>
    </p:spTree>
    <p:extLst>
      <p:ext uri="{BB962C8B-B14F-4D97-AF65-F5344CB8AC3E}">
        <p14:creationId xmlns:p14="http://schemas.microsoft.com/office/powerpoint/2010/main" val="7638498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3055257" y="1943100"/>
            <a:ext cx="8158863" cy="6247864"/>
          </a:xfrm>
          <a:prstGeom prst="rect">
            <a:avLst/>
          </a:prstGeom>
        </p:spPr>
        <p:txBody>
          <a:bodyPr wrap="square" lIns="0" tIns="0" rIns="0" bIns="0" rtlCol="0" anchor="t">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2900" dirty="0">
                <a:latin typeface="Calibri" panose="020F0502020204030204" pitchFamily="34" charset="0"/>
                <a:ea typeface="Calibri" panose="020F0502020204030204" pitchFamily="34" charset="0"/>
                <a:cs typeface="Calibri" panose="020F0502020204030204" pitchFamily="34" charset="0"/>
              </a:rPr>
              <a:t>• </a:t>
            </a: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User engagement analysis helped identify active, inactive, and high-value users.</a:t>
            </a:r>
          </a:p>
          <a:p>
            <a:pPr marL="0" marR="0" lvl="0" indent="0" algn="l" defTabSz="914400" rtl="0" eaLnBrk="0" fontAlgn="base" latinLnBrk="0" hangingPunct="0">
              <a:lnSpc>
                <a:spcPct val="100000"/>
              </a:lnSpc>
              <a:spcBef>
                <a:spcPct val="0"/>
              </a:spcBef>
              <a:spcAft>
                <a:spcPct val="0"/>
              </a:spcAft>
              <a:buClrTx/>
              <a:buSzTx/>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Trending hashtags and popular content categories were key drivers of engagement.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User segmentation supports personalized marketing and retention strategies.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Highly engaged users and influencers can help expand brand reach and awareness.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Combining user behavior analysis with targeted campaigns can drive sustainable platform growth. </a:t>
            </a:r>
          </a:p>
        </p:txBody>
      </p:sp>
      <p:sp>
        <p:nvSpPr>
          <p:cNvPr id="10" name="TextBox 10"/>
          <p:cNvSpPr txBox="1"/>
          <p:nvPr/>
        </p:nvSpPr>
        <p:spPr>
          <a:xfrm>
            <a:off x="4150158" y="-4"/>
            <a:ext cx="9987683" cy="1368965"/>
          </a:xfrm>
          <a:prstGeom prst="rect">
            <a:avLst/>
          </a:prstGeom>
        </p:spPr>
        <p:txBody>
          <a:bodyPr lIns="0" tIns="0" rIns="0" bIns="0" rtlCol="0" anchor="t">
            <a:spAutoFit/>
          </a:bodyPr>
          <a:lstStyle/>
          <a:p>
            <a:pPr algn="ctr">
              <a:lnSpc>
                <a:spcPts val="11940"/>
              </a:lnSpc>
            </a:pPr>
            <a:r>
              <a:rPr lang="en-US" sz="7000" b="1" dirty="0">
                <a:solidFill>
                  <a:srgbClr val="0166C2"/>
                </a:solidFill>
                <a:latin typeface="Calibri" panose="020F0502020204030204" pitchFamily="34" charset="0"/>
                <a:ea typeface="Calibri" panose="020F0502020204030204" pitchFamily="34" charset="0"/>
                <a:cs typeface="Calibri" panose="020F0502020204030204" pitchFamily="34" charset="0"/>
                <a:sym typeface="Glacial Indifference Bold"/>
              </a:rPr>
              <a:t>CONCLUSION</a:t>
            </a:r>
          </a:p>
        </p:txBody>
      </p:sp>
      <p:pic>
        <p:nvPicPr>
          <p:cNvPr id="15" name="Picture 14">
            <a:extLst>
              <a:ext uri="{FF2B5EF4-FFF2-40B4-BE49-F238E27FC236}">
                <a16:creationId xmlns:a16="http://schemas.microsoft.com/office/drawing/2014/main" id="{B33E3F10-7C2D-498D-9776-ABE8506F48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4800" y="1930553"/>
            <a:ext cx="6553200" cy="8013547"/>
          </a:xfrm>
          <a:prstGeom prst="rect">
            <a:avLst/>
          </a:prstGeom>
        </p:spPr>
      </p:pic>
      <p:sp>
        <p:nvSpPr>
          <p:cNvPr id="6" name="Rectangle 5">
            <a:extLst>
              <a:ext uri="{FF2B5EF4-FFF2-40B4-BE49-F238E27FC236}">
                <a16:creationId xmlns:a16="http://schemas.microsoft.com/office/drawing/2014/main" id="{2493D1F5-84F6-4D7C-9AD8-8F500B4CE7B3}"/>
              </a:ext>
            </a:extLst>
          </p:cNvPr>
          <p:cNvSpPr/>
          <p:nvPr/>
        </p:nvSpPr>
        <p:spPr>
          <a:xfrm>
            <a:off x="5064567" y="0"/>
            <a:ext cx="8158863" cy="133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endParaRPr>
          </a:p>
          <a:p>
            <a:pPr algn="ct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Glacial Indifference Bold"/>
              </a:rPr>
              <a:t>CONCLUSION</a:t>
            </a:r>
          </a:p>
          <a:p>
            <a:pPr algn="ctr"/>
            <a:endParaRPr lang="en-US" sz="6000" dirty="0">
              <a:solidFill>
                <a:schemeClr val="tx1"/>
              </a:solidFill>
            </a:endParaRPr>
          </a:p>
        </p:txBody>
      </p:sp>
      <p:sp>
        <p:nvSpPr>
          <p:cNvPr id="8" name="Freeform 7">
            <a:extLst>
              <a:ext uri="{FF2B5EF4-FFF2-40B4-BE49-F238E27FC236}">
                <a16:creationId xmlns:a16="http://schemas.microsoft.com/office/drawing/2014/main" id="{6D9CC474-378F-43CB-A0B6-39E959AF016A}"/>
              </a:ext>
            </a:extLst>
          </p:cNvPr>
          <p:cNvSpPr/>
          <p:nvPr/>
        </p:nvSpPr>
        <p:spPr>
          <a:xfrm>
            <a:off x="3048000" y="1943100"/>
            <a:ext cx="8158863" cy="6400800"/>
          </a:xfrm>
          <a:custGeom>
            <a:avLst/>
            <a:gdLst/>
            <a:ahLst/>
            <a:cxnLst/>
            <a:rect l="l" t="t" r="r" b="b"/>
            <a:pathLst>
              <a:path w="12355328" h="6356958">
                <a:moveTo>
                  <a:pt x="0" y="0"/>
                </a:moveTo>
                <a:lnTo>
                  <a:pt x="12355327" y="0"/>
                </a:lnTo>
                <a:lnTo>
                  <a:pt x="12355327" y="6356959"/>
                </a:lnTo>
                <a:lnTo>
                  <a:pt x="0" y="6356959"/>
                </a:lnTo>
                <a:lnTo>
                  <a:pt x="0" y="0"/>
                </a:lnTo>
                <a:close/>
              </a:path>
            </a:pathLst>
          </a:custGeom>
          <a:blipFill>
            <a:blip r:embed="rId3">
              <a:alphaModFix amt="15000"/>
            </a:blip>
            <a:stretch>
              <a:fillRect t="-47301" b="-47301"/>
            </a:stretch>
          </a:blipFill>
        </p:spPr>
        <p:txBody>
          <a:bodyPr/>
          <a:lstStyle/>
          <a:p>
            <a:pPr>
              <a:lnSpc>
                <a:spcPct val="150000"/>
              </a:lnSpc>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27FAB25-4158-46EF-90CD-AA0BE2DA589B}"/>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Tree>
  </p:cSld>
  <p:clrMapOvr>
    <a:masterClrMapping/>
  </p:clrMapOvr>
  <p:transition spd="slow">
    <p:circl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3669</TotalTime>
  <Words>836</Words>
  <Application>Microsoft Office PowerPoint</Application>
  <PresentationFormat>Custom</PresentationFormat>
  <Paragraphs>118</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MV Boli</vt:lpstr>
      <vt:lpstr>Calibri</vt:lpstr>
      <vt:lpstr>Arial</vt:lpstr>
      <vt:lpstr>Corbel</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Professional Geometric Project Presentation</dc:title>
  <dc:creator>samsung</dc:creator>
  <cp:lastModifiedBy>Vikrant Rajput</cp:lastModifiedBy>
  <cp:revision>44</cp:revision>
  <dcterms:created xsi:type="dcterms:W3CDTF">2006-08-16T00:00:00Z</dcterms:created>
  <dcterms:modified xsi:type="dcterms:W3CDTF">2026-06-27T08:59:10Z</dcterms:modified>
  <dc:identifier>DAHBrsZgxms</dc:identifier>
</cp:coreProperties>
</file>